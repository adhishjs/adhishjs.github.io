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Raleway"/>
      <p:regular r:id="rId31"/>
      <p:bold r:id="rId32"/>
      <p:italic r:id="rId33"/>
      <p:boldItalic r:id="rId34"/>
    </p:embeddedFont>
    <p:embeddedFont>
      <p:font typeface="Lato"/>
      <p:regular r:id="rId35"/>
      <p:bold r:id="rId36"/>
      <p:italic r:id="rId37"/>
      <p:boldItalic r:id="rId38"/>
    </p:embeddedFont>
    <p:embeddedFont>
      <p:font typeface="Raleway Light"/>
      <p:regular r:id="rId39"/>
      <p:bold r:id="rId40"/>
      <p:italic r:id="rId41"/>
      <p:boldItalic r:id="rId42"/>
    </p:embeddedFont>
    <p:embeddedFont>
      <p:font typeface="Raleway ExtraLight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alewayLight-bold.fntdata"/><Relationship Id="rId20" Type="http://schemas.openxmlformats.org/officeDocument/2006/relationships/slide" Target="slides/slide15.xml"/><Relationship Id="rId42" Type="http://schemas.openxmlformats.org/officeDocument/2006/relationships/font" Target="fonts/RalewayLight-boldItalic.fntdata"/><Relationship Id="rId41" Type="http://schemas.openxmlformats.org/officeDocument/2006/relationships/font" Target="fonts/RalewayLight-italic.fntdata"/><Relationship Id="rId22" Type="http://schemas.openxmlformats.org/officeDocument/2006/relationships/slide" Target="slides/slide17.xml"/><Relationship Id="rId44" Type="http://schemas.openxmlformats.org/officeDocument/2006/relationships/font" Target="fonts/RalewayExtraLight-bold.fntdata"/><Relationship Id="rId21" Type="http://schemas.openxmlformats.org/officeDocument/2006/relationships/slide" Target="slides/slide16.xml"/><Relationship Id="rId43" Type="http://schemas.openxmlformats.org/officeDocument/2006/relationships/font" Target="fonts/RalewayExtraLight-regular.fntdata"/><Relationship Id="rId24" Type="http://schemas.openxmlformats.org/officeDocument/2006/relationships/slide" Target="slides/slide19.xml"/><Relationship Id="rId46" Type="http://schemas.openxmlformats.org/officeDocument/2006/relationships/font" Target="fonts/RalewayExtraLight-boldItalic.fntdata"/><Relationship Id="rId23" Type="http://schemas.openxmlformats.org/officeDocument/2006/relationships/slide" Target="slides/slide18.xml"/><Relationship Id="rId45" Type="http://schemas.openxmlformats.org/officeDocument/2006/relationships/font" Target="fonts/RalewayExtraLigh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aleway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aleway-italic.fntdata"/><Relationship Id="rId10" Type="http://schemas.openxmlformats.org/officeDocument/2006/relationships/slide" Target="slides/slide5.xml"/><Relationship Id="rId32" Type="http://schemas.openxmlformats.org/officeDocument/2006/relationships/font" Target="fonts/Raleway-bold.fntdata"/><Relationship Id="rId13" Type="http://schemas.openxmlformats.org/officeDocument/2006/relationships/slide" Target="slides/slide8.xml"/><Relationship Id="rId35" Type="http://schemas.openxmlformats.org/officeDocument/2006/relationships/font" Target="fonts/Lato-regular.fntdata"/><Relationship Id="rId12" Type="http://schemas.openxmlformats.org/officeDocument/2006/relationships/slide" Target="slides/slide7.xml"/><Relationship Id="rId34" Type="http://schemas.openxmlformats.org/officeDocument/2006/relationships/font" Target="fonts/Raleway-boldItalic.fntdata"/><Relationship Id="rId15" Type="http://schemas.openxmlformats.org/officeDocument/2006/relationships/slide" Target="slides/slide10.xml"/><Relationship Id="rId37" Type="http://schemas.openxmlformats.org/officeDocument/2006/relationships/font" Target="fonts/Lato-italic.fntdata"/><Relationship Id="rId14" Type="http://schemas.openxmlformats.org/officeDocument/2006/relationships/slide" Target="slides/slide9.xml"/><Relationship Id="rId36" Type="http://schemas.openxmlformats.org/officeDocument/2006/relationships/font" Target="fonts/Lato-bold.fntdata"/><Relationship Id="rId17" Type="http://schemas.openxmlformats.org/officeDocument/2006/relationships/slide" Target="slides/slide12.xml"/><Relationship Id="rId39" Type="http://schemas.openxmlformats.org/officeDocument/2006/relationships/font" Target="fonts/RalewayLight-regular.fntdata"/><Relationship Id="rId16" Type="http://schemas.openxmlformats.org/officeDocument/2006/relationships/slide" Target="slides/slide11.xml"/><Relationship Id="rId38" Type="http://schemas.openxmlformats.org/officeDocument/2006/relationships/font" Target="fonts/Lato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a3c898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6fa3c8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ca48def249_2_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ca48def249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ca48def249_1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ca48def249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ca48def249_1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ca48def249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c6fa3c898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c6fa3c89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7122a6fb26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7122a6fb26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676af16c35b25f8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676af16c35b25f8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db7cc6208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db7cc6208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db7cc6208f_0_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db7cc6208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7122a6fb2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7122a6fb2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7122a6fb2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7122a6fb2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7096896c4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7096896c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79d72ecb280ce4b7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79d72ecb280ce4b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70eae6b98e_0_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70eae6b98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7131c38017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7131c38017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ca48def249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ca48def249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7131c3801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7131c3801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7131c3801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7131c3801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7131c38017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7131c38017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7131c3801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7131c3801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7131c3801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7131c3801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7131c3801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7131c3801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7131c38017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7131c38017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7131c38017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7131c38017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ca48def249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ca48def249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1835075" y="207450"/>
            <a:ext cx="6331500" cy="13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6800"/>
            </a:br>
            <a:r>
              <a:rPr b="0" lang="en" sz="9900">
                <a:latin typeface="Raleway ExtraLight"/>
                <a:ea typeface="Raleway ExtraLight"/>
                <a:cs typeface="Raleway ExtraLight"/>
                <a:sym typeface="Raleway ExtraLight"/>
              </a:rPr>
              <a:t>P</a:t>
            </a:r>
            <a:r>
              <a:rPr b="0" lang="en" sz="5100">
                <a:latin typeface="Raleway ExtraLight"/>
                <a:ea typeface="Raleway ExtraLight"/>
                <a:cs typeface="Raleway ExtraLight"/>
                <a:sym typeface="Raleway ExtraLight"/>
              </a:rPr>
              <a:t>ROJECT</a:t>
            </a:r>
            <a:r>
              <a:rPr b="0" lang="en" sz="6800">
                <a:latin typeface="Raleway ExtraLight"/>
                <a:ea typeface="Raleway ExtraLight"/>
                <a:cs typeface="Raleway ExtraLight"/>
                <a:sym typeface="Raleway ExtraLight"/>
              </a:rPr>
              <a:t> </a:t>
            </a:r>
            <a:r>
              <a:rPr b="0" lang="en" sz="9100">
                <a:latin typeface="Raleway ExtraLight"/>
                <a:ea typeface="Raleway ExtraLight"/>
                <a:cs typeface="Raleway ExtraLight"/>
                <a:sym typeface="Raleway ExtraLight"/>
              </a:rPr>
              <a:t>W</a:t>
            </a:r>
            <a:r>
              <a:rPr b="0" lang="en" sz="5300">
                <a:latin typeface="Raleway ExtraLight"/>
                <a:ea typeface="Raleway ExtraLight"/>
                <a:cs typeface="Raleway ExtraLight"/>
                <a:sym typeface="Raleway ExtraLight"/>
              </a:rPr>
              <a:t>AVE</a:t>
            </a:r>
            <a:endParaRPr b="0" sz="5300">
              <a:latin typeface="Raleway ExtraLight"/>
              <a:ea typeface="Raleway ExtraLight"/>
              <a:cs typeface="Raleway ExtraLight"/>
              <a:sym typeface="Raleway ExtraLight"/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4413925" y="3312275"/>
            <a:ext cx="4662300" cy="13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ADHISH J S - EC23B1003</a:t>
            </a:r>
            <a:endParaRPr b="1"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SAI PRAMATHI MAKKENA - EC23B1028</a:t>
            </a:r>
            <a:endParaRPr b="1"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PRATEEK RAO - EC23B1039</a:t>
            </a:r>
            <a:endParaRPr b="1"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 flipH="1">
            <a:off x="159002" y="1691698"/>
            <a:ext cx="4041600" cy="131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6600">
                <a:latin typeface="Raleway Light"/>
                <a:ea typeface="Raleway Light"/>
                <a:cs typeface="Raleway Light"/>
                <a:sym typeface="Raleway Light"/>
              </a:rPr>
              <a:t>I</a:t>
            </a:r>
            <a:r>
              <a:rPr b="0" lang="en" sz="3500">
                <a:latin typeface="Raleway Light"/>
                <a:ea typeface="Raleway Light"/>
                <a:cs typeface="Raleway Light"/>
                <a:sym typeface="Raleway Light"/>
              </a:rPr>
              <a:t>NTRODUCTION</a:t>
            </a:r>
            <a:endParaRPr b="0" sz="3500"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79" name="Google Shape;79;p14"/>
          <p:cNvSpPr txBox="1"/>
          <p:nvPr>
            <p:ph idx="2" type="body"/>
          </p:nvPr>
        </p:nvSpPr>
        <p:spPr>
          <a:xfrm>
            <a:off x="4661675" y="261150"/>
            <a:ext cx="4535400" cy="417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Presentation is extremely important in many different aspects of life. However, the constant usage of  keyboard to change slides over a specific gadget to complete chores renders them lifeless.</a:t>
            </a:r>
            <a:endParaRPr sz="2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i="1"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project involves using gestures to control various actions on a PowerPoint presentation.</a:t>
            </a:r>
            <a:endParaRPr b="1" i="1" sz="2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513950" y="1800750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600">
                <a:latin typeface="Raleway ExtraLight"/>
                <a:ea typeface="Raleway ExtraLight"/>
                <a:cs typeface="Raleway ExtraLight"/>
                <a:sym typeface="Raleway ExtraLight"/>
              </a:rPr>
              <a:t>T</a:t>
            </a:r>
            <a:r>
              <a:rPr b="0" lang="en" sz="6000">
                <a:latin typeface="Raleway ExtraLight"/>
                <a:ea typeface="Raleway ExtraLight"/>
                <a:cs typeface="Raleway ExtraLight"/>
                <a:sym typeface="Raleway ExtraLight"/>
              </a:rPr>
              <a:t>EAM</a:t>
            </a:r>
            <a:r>
              <a:rPr b="0" lang="en" sz="9600">
                <a:latin typeface="Raleway ExtraLight"/>
                <a:ea typeface="Raleway ExtraLight"/>
                <a:cs typeface="Raleway ExtraLight"/>
                <a:sym typeface="Raleway ExtraLight"/>
              </a:rPr>
              <a:t> M</a:t>
            </a:r>
            <a:r>
              <a:rPr b="0" lang="en" sz="5900">
                <a:latin typeface="Raleway ExtraLight"/>
                <a:ea typeface="Raleway ExtraLight"/>
                <a:cs typeface="Raleway ExtraLight"/>
                <a:sym typeface="Raleway ExtraLight"/>
              </a:rPr>
              <a:t>EMBERS</a:t>
            </a:r>
            <a:endParaRPr b="0" sz="1300">
              <a:latin typeface="Raleway ExtraLight"/>
              <a:ea typeface="Raleway ExtraLight"/>
              <a:cs typeface="Raleway ExtraLight"/>
              <a:sym typeface="Raleway Extra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Background pointer shape in timeline graphic" id="89" name="Google Shape;89;p16"/>
          <p:cNvSpPr/>
          <p:nvPr/>
        </p:nvSpPr>
        <p:spPr>
          <a:xfrm>
            <a:off x="340934" y="2199000"/>
            <a:ext cx="1872300" cy="7455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/>
          <p:cNvSpPr txBox="1"/>
          <p:nvPr>
            <p:ph idx="4294967295" type="body"/>
          </p:nvPr>
        </p:nvSpPr>
        <p:spPr>
          <a:xfrm>
            <a:off x="340923" y="2336550"/>
            <a:ext cx="14556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</a:rPr>
              <a:t>ADHISH</a:t>
            </a:r>
            <a:endParaRPr b="1" sz="2400">
              <a:solidFill>
                <a:schemeClr val="lt1"/>
              </a:solidFill>
            </a:endParaRPr>
          </a:p>
        </p:txBody>
      </p:sp>
      <p:grpSp>
        <p:nvGrpSpPr>
          <p:cNvPr id="91" name="Google Shape;91;p16"/>
          <p:cNvGrpSpPr/>
          <p:nvPr/>
        </p:nvGrpSpPr>
        <p:grpSpPr>
          <a:xfrm>
            <a:off x="969270" y="1610215"/>
            <a:ext cx="198900" cy="593656"/>
            <a:chOff x="777447" y="1610215"/>
            <a:chExt cx="198900" cy="593656"/>
          </a:xfrm>
        </p:grpSpPr>
        <p:cxnSp>
          <p:nvCxnSpPr>
            <p:cNvPr id="92" name="Google Shape;92;p16"/>
            <p:cNvCxnSpPr/>
            <p:nvPr/>
          </p:nvCxnSpPr>
          <p:spPr>
            <a:xfrm>
              <a:off x="876909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3" name="Google Shape;93;p16"/>
            <p:cNvSpPr/>
            <p:nvPr/>
          </p:nvSpPr>
          <p:spPr>
            <a:xfrm>
              <a:off x="777447" y="1610215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" name="Google Shape;94;p16"/>
          <p:cNvSpPr txBox="1"/>
          <p:nvPr>
            <p:ph idx="4294967295" type="body"/>
          </p:nvPr>
        </p:nvSpPr>
        <p:spPr>
          <a:xfrm>
            <a:off x="0" y="450675"/>
            <a:ext cx="4572000" cy="13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b="1" lang="en" sz="1600">
                <a:latin typeface="Arial"/>
                <a:ea typeface="Arial"/>
                <a:cs typeface="Arial"/>
                <a:sym typeface="Arial"/>
              </a:rPr>
              <a:t>Team Lead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b="1" lang="en" sz="1600">
                <a:latin typeface="Arial"/>
                <a:ea typeface="Arial"/>
                <a:cs typeface="Arial"/>
                <a:sym typeface="Arial"/>
              </a:rPr>
              <a:t>Responsible for backend operations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b="1" lang="en" sz="1600">
                <a:latin typeface="Arial"/>
                <a:ea typeface="Arial"/>
                <a:cs typeface="Arial"/>
                <a:sym typeface="Arial"/>
              </a:rPr>
              <a:t>Debugging of the project.</a:t>
            </a:r>
            <a:endParaRPr b="1"/>
          </a:p>
        </p:txBody>
      </p:sp>
      <p:sp>
        <p:nvSpPr>
          <p:cNvPr descr="Background pointer shape in timeline graphic" id="95" name="Google Shape;95;p16"/>
          <p:cNvSpPr/>
          <p:nvPr/>
        </p:nvSpPr>
        <p:spPr>
          <a:xfrm>
            <a:off x="1817054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6" name="Google Shape;96;p16"/>
          <p:cNvGrpSpPr/>
          <p:nvPr/>
        </p:nvGrpSpPr>
        <p:grpSpPr>
          <a:xfrm>
            <a:off x="4250482" y="2938958"/>
            <a:ext cx="198900" cy="593656"/>
            <a:chOff x="2223534" y="2938958"/>
            <a:chExt cx="198900" cy="593656"/>
          </a:xfrm>
        </p:grpSpPr>
        <p:cxnSp>
          <p:nvCxnSpPr>
            <p:cNvPr id="97" name="Google Shape;97;p16"/>
            <p:cNvCxnSpPr/>
            <p:nvPr/>
          </p:nvCxnSpPr>
          <p:spPr>
            <a:xfrm rot="10800000">
              <a:off x="2322997" y="2938958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8" name="Google Shape;98;p16"/>
            <p:cNvSpPr/>
            <p:nvPr/>
          </p:nvSpPr>
          <p:spPr>
            <a:xfrm flipH="1" rot="10800000">
              <a:off x="2223534" y="3333714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descr="Background pointer shape in timeline graphic" id="99" name="Google Shape;99;p16"/>
          <p:cNvSpPr/>
          <p:nvPr/>
        </p:nvSpPr>
        <p:spPr>
          <a:xfrm>
            <a:off x="3471973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6"/>
          <p:cNvSpPr txBox="1"/>
          <p:nvPr>
            <p:ph idx="4294967295" type="body"/>
          </p:nvPr>
        </p:nvSpPr>
        <p:spPr>
          <a:xfrm>
            <a:off x="3694348" y="2336550"/>
            <a:ext cx="17553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1"/>
                </a:solidFill>
              </a:rPr>
              <a:t>PRAMATHI</a:t>
            </a:r>
            <a:endParaRPr b="1" sz="2100">
              <a:solidFill>
                <a:schemeClr val="lt1"/>
              </a:solidFill>
            </a:endParaRPr>
          </a:p>
        </p:txBody>
      </p:sp>
      <p:sp>
        <p:nvSpPr>
          <p:cNvPr descr="Background pointer shape in timeline graphic" id="101" name="Google Shape;101;p16"/>
          <p:cNvSpPr/>
          <p:nvPr/>
        </p:nvSpPr>
        <p:spPr>
          <a:xfrm>
            <a:off x="5126893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Background pointer shape in timeline graphic" id="102" name="Google Shape;102;p16"/>
          <p:cNvSpPr/>
          <p:nvPr/>
        </p:nvSpPr>
        <p:spPr>
          <a:xfrm>
            <a:off x="6781813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6"/>
          <p:cNvSpPr txBox="1"/>
          <p:nvPr>
            <p:ph idx="4294967295" type="body"/>
          </p:nvPr>
        </p:nvSpPr>
        <p:spPr>
          <a:xfrm>
            <a:off x="7111512" y="2336550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</a:rPr>
              <a:t>PRATEEK</a:t>
            </a:r>
            <a:endParaRPr b="1" sz="2000">
              <a:solidFill>
                <a:schemeClr val="lt1"/>
              </a:solidFill>
            </a:endParaRPr>
          </a:p>
        </p:txBody>
      </p:sp>
      <p:grpSp>
        <p:nvGrpSpPr>
          <p:cNvPr id="104" name="Google Shape;104;p16"/>
          <p:cNvGrpSpPr/>
          <p:nvPr/>
        </p:nvGrpSpPr>
        <p:grpSpPr>
          <a:xfrm>
            <a:off x="7669807" y="1610215"/>
            <a:ext cx="198900" cy="593656"/>
            <a:chOff x="3918084" y="1610215"/>
            <a:chExt cx="198900" cy="593656"/>
          </a:xfrm>
        </p:grpSpPr>
        <p:cxnSp>
          <p:nvCxnSpPr>
            <p:cNvPr id="105" name="Google Shape;105;p16"/>
            <p:cNvCxnSpPr/>
            <p:nvPr/>
          </p:nvCxnSpPr>
          <p:spPr>
            <a:xfrm>
              <a:off x="4017546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6" name="Google Shape;106;p16"/>
            <p:cNvSpPr/>
            <p:nvPr/>
          </p:nvSpPr>
          <p:spPr>
            <a:xfrm>
              <a:off x="3918084" y="1610215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" name="Google Shape;107;p16"/>
          <p:cNvSpPr txBox="1"/>
          <p:nvPr>
            <p:ph idx="4294967295" type="body"/>
          </p:nvPr>
        </p:nvSpPr>
        <p:spPr>
          <a:xfrm>
            <a:off x="5615675" y="450675"/>
            <a:ext cx="37020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b="1" lang="en" sz="1600">
                <a:latin typeface="Arial"/>
                <a:ea typeface="Arial"/>
                <a:cs typeface="Arial"/>
                <a:sym typeface="Arial"/>
              </a:rPr>
              <a:t>Testing the code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b="1" lang="en" sz="1600">
                <a:latin typeface="Arial"/>
                <a:ea typeface="Arial"/>
                <a:cs typeface="Arial"/>
                <a:sym typeface="Arial"/>
              </a:rPr>
              <a:t>Flagging the issues and bugs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b="1" lang="en" sz="1600">
                <a:latin typeface="Arial"/>
                <a:ea typeface="Arial"/>
                <a:cs typeface="Arial"/>
                <a:sym typeface="Arial"/>
              </a:rPr>
              <a:t>Designing Presentations</a:t>
            </a:r>
            <a:endParaRPr b="1"/>
          </a:p>
        </p:txBody>
      </p:sp>
      <p:sp>
        <p:nvSpPr>
          <p:cNvPr id="108" name="Google Shape;108;p16"/>
          <p:cNvSpPr txBox="1"/>
          <p:nvPr>
            <p:ph idx="4294967295" type="body"/>
          </p:nvPr>
        </p:nvSpPr>
        <p:spPr>
          <a:xfrm>
            <a:off x="2607522" y="3664625"/>
            <a:ext cx="37800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b="1" lang="en" sz="1600">
                <a:latin typeface="Arial"/>
                <a:ea typeface="Arial"/>
                <a:cs typeface="Arial"/>
                <a:sym typeface="Arial"/>
              </a:rPr>
              <a:t>Resource Management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b="1" lang="en" sz="1600">
                <a:latin typeface="Arial"/>
                <a:ea typeface="Arial"/>
                <a:cs typeface="Arial"/>
                <a:sym typeface="Arial"/>
              </a:rPr>
              <a:t>Proposing ideas for the project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b="1" lang="en" sz="1600">
                <a:latin typeface="Arial"/>
                <a:ea typeface="Arial"/>
                <a:cs typeface="Arial"/>
                <a:sym typeface="Arial"/>
              </a:rPr>
              <a:t>Outreach and Presentation</a:t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 flipH="1">
            <a:off x="110352" y="1912648"/>
            <a:ext cx="4041600" cy="131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800">
                <a:solidFill>
                  <a:schemeClr val="lt1"/>
                </a:solidFill>
                <a:latin typeface="Raleway ExtraLight"/>
                <a:ea typeface="Raleway ExtraLight"/>
                <a:cs typeface="Raleway ExtraLight"/>
                <a:sym typeface="Raleway ExtraLight"/>
              </a:rPr>
              <a:t>O</a:t>
            </a:r>
            <a:r>
              <a:rPr b="0" lang="en" sz="4000">
                <a:solidFill>
                  <a:schemeClr val="lt1"/>
                </a:solidFill>
                <a:latin typeface="Raleway ExtraLight"/>
                <a:ea typeface="Raleway ExtraLight"/>
                <a:cs typeface="Raleway ExtraLight"/>
                <a:sym typeface="Raleway ExtraLight"/>
              </a:rPr>
              <a:t>BJECTIVES</a:t>
            </a:r>
            <a:endParaRPr b="0" sz="4000">
              <a:solidFill>
                <a:schemeClr val="lt1"/>
              </a:solidFill>
              <a:latin typeface="Raleway ExtraLight"/>
              <a:ea typeface="Raleway ExtraLight"/>
              <a:cs typeface="Raleway ExtraLight"/>
              <a:sym typeface="Raleway ExtraLight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4310700" y="0"/>
            <a:ext cx="4833300" cy="514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5" name="Google Shape;115;p17"/>
          <p:cNvSpPr txBox="1"/>
          <p:nvPr>
            <p:ph idx="2" type="body"/>
          </p:nvPr>
        </p:nvSpPr>
        <p:spPr>
          <a:xfrm>
            <a:off x="4310700" y="342900"/>
            <a:ext cx="4740600" cy="445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●"/>
            </a:pPr>
            <a:r>
              <a:rPr b="1" lang="en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This project aims to provide ease of accessibility to the presenter by reducing the inputs of keyboard and mouse.</a:t>
            </a:r>
            <a:endParaRPr b="1" sz="2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●"/>
            </a:pPr>
            <a:r>
              <a:rPr b="1" lang="en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standard web camera is used to accept hand gestures from the presenter to navigate through the slides</a:t>
            </a:r>
            <a:endParaRPr b="1" sz="2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●"/>
            </a:pPr>
            <a:r>
              <a:rPr b="1" lang="en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Thus the presenter does not need to repeatedly turn to his device to switch through the slides. Rather he could do all this with the flick of his hand</a:t>
            </a:r>
            <a:endParaRPr b="1" sz="2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/>
          <p:nvPr/>
        </p:nvSpPr>
        <p:spPr>
          <a:xfrm>
            <a:off x="4786000" y="0"/>
            <a:ext cx="4358100" cy="5143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lt1"/>
                </a:solidFill>
                <a:latin typeface="Raleway ExtraLight"/>
                <a:ea typeface="Raleway ExtraLight"/>
                <a:cs typeface="Raleway ExtraLight"/>
                <a:sym typeface="Raleway ExtraLight"/>
              </a:rPr>
              <a:t>P</a:t>
            </a:r>
            <a:r>
              <a:rPr lang="en" sz="4500">
                <a:solidFill>
                  <a:schemeClr val="lt1"/>
                </a:solidFill>
                <a:latin typeface="Raleway ExtraLight"/>
                <a:ea typeface="Raleway ExtraLight"/>
                <a:cs typeface="Raleway ExtraLight"/>
                <a:sym typeface="Raleway ExtraLight"/>
              </a:rPr>
              <a:t>ROBLEM</a:t>
            </a:r>
            <a:endParaRPr sz="4500">
              <a:solidFill>
                <a:schemeClr val="lt1"/>
              </a:solidFill>
              <a:latin typeface="Raleway ExtraLight"/>
              <a:ea typeface="Raleway ExtraLight"/>
              <a:cs typeface="Raleway ExtraLight"/>
              <a:sym typeface="Raleway Extra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lt1"/>
                </a:solidFill>
                <a:latin typeface="Raleway ExtraLight"/>
                <a:ea typeface="Raleway ExtraLight"/>
                <a:cs typeface="Raleway ExtraLight"/>
                <a:sym typeface="Raleway ExtraLight"/>
              </a:rPr>
              <a:t>S</a:t>
            </a:r>
            <a:r>
              <a:rPr lang="en" sz="4500">
                <a:solidFill>
                  <a:schemeClr val="lt1"/>
                </a:solidFill>
                <a:latin typeface="Raleway ExtraLight"/>
                <a:ea typeface="Raleway ExtraLight"/>
                <a:cs typeface="Raleway ExtraLight"/>
                <a:sym typeface="Raleway ExtraLight"/>
              </a:rPr>
              <a:t>TATEMENTS</a:t>
            </a:r>
            <a:endParaRPr sz="4500">
              <a:solidFill>
                <a:schemeClr val="lt1"/>
              </a:solidFill>
              <a:latin typeface="Raleway ExtraLight"/>
              <a:ea typeface="Raleway ExtraLight"/>
              <a:cs typeface="Raleway ExtraLight"/>
              <a:sym typeface="Raleway ExtraLight"/>
            </a:endParaRPr>
          </a:p>
        </p:txBody>
      </p:sp>
      <p:sp>
        <p:nvSpPr>
          <p:cNvPr id="121" name="Google Shape;121;p18"/>
          <p:cNvSpPr txBox="1"/>
          <p:nvPr/>
        </p:nvSpPr>
        <p:spPr>
          <a:xfrm>
            <a:off x="0" y="459325"/>
            <a:ext cx="4742100" cy="41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Lato"/>
              <a:buChar char="●"/>
            </a:pPr>
            <a:r>
              <a:rPr lang="en" sz="27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Develop  a system to recognise hand gestures in real-time.</a:t>
            </a:r>
            <a:endParaRPr sz="27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Lato"/>
              <a:buChar char="●"/>
            </a:pPr>
            <a:r>
              <a:rPr lang="en" sz="27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Create functionality for navigating slides using captured gestures.</a:t>
            </a:r>
            <a:endParaRPr sz="27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/>
          <p:nvPr/>
        </p:nvSpPr>
        <p:spPr>
          <a:xfrm>
            <a:off x="4786000" y="0"/>
            <a:ext cx="4358100" cy="5143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>
                <a:solidFill>
                  <a:schemeClr val="lt1"/>
                </a:solidFill>
                <a:latin typeface="Raleway ExtraLight"/>
                <a:ea typeface="Raleway ExtraLight"/>
                <a:cs typeface="Raleway ExtraLight"/>
                <a:sym typeface="Raleway ExtraLight"/>
              </a:rPr>
              <a:t>E</a:t>
            </a:r>
            <a:r>
              <a:rPr lang="en" sz="4500">
                <a:solidFill>
                  <a:schemeClr val="lt1"/>
                </a:solidFill>
                <a:latin typeface="Raleway ExtraLight"/>
                <a:ea typeface="Raleway ExtraLight"/>
                <a:cs typeface="Raleway ExtraLight"/>
                <a:sym typeface="Raleway ExtraLight"/>
              </a:rPr>
              <a:t>XISTING</a:t>
            </a:r>
            <a:endParaRPr sz="4500">
              <a:solidFill>
                <a:schemeClr val="lt1"/>
              </a:solidFill>
              <a:latin typeface="Raleway ExtraLight"/>
              <a:ea typeface="Raleway ExtraLight"/>
              <a:cs typeface="Raleway ExtraLight"/>
              <a:sym typeface="Raleway Extra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300">
                <a:solidFill>
                  <a:schemeClr val="lt1"/>
                </a:solidFill>
                <a:latin typeface="Raleway ExtraLight"/>
                <a:ea typeface="Raleway ExtraLight"/>
                <a:cs typeface="Raleway ExtraLight"/>
                <a:sym typeface="Raleway ExtraLight"/>
              </a:rPr>
              <a:t>S</a:t>
            </a:r>
            <a:r>
              <a:rPr lang="en" sz="4500">
                <a:solidFill>
                  <a:schemeClr val="lt1"/>
                </a:solidFill>
                <a:latin typeface="Raleway ExtraLight"/>
                <a:ea typeface="Raleway ExtraLight"/>
                <a:cs typeface="Raleway ExtraLight"/>
                <a:sym typeface="Raleway ExtraLight"/>
              </a:rPr>
              <a:t>YSTEMS</a:t>
            </a:r>
            <a:endParaRPr sz="4500">
              <a:solidFill>
                <a:schemeClr val="lt1"/>
              </a:solidFill>
              <a:latin typeface="Raleway ExtraLight"/>
              <a:ea typeface="Raleway ExtraLight"/>
              <a:cs typeface="Raleway ExtraLight"/>
              <a:sym typeface="Raleway ExtraLight"/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0" y="459325"/>
            <a:ext cx="4742100" cy="41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Lato"/>
              <a:buChar char="●"/>
            </a:pPr>
            <a:r>
              <a:rPr lang="en" sz="27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Motion sensing feature utilised by PlayStation 4 Controllers.</a:t>
            </a:r>
            <a:endParaRPr sz="27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Lato"/>
              <a:buChar char="●"/>
            </a:pPr>
            <a:r>
              <a:rPr lang="en" sz="27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Anti-Theft Systems</a:t>
            </a:r>
            <a:endParaRPr sz="27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Lato"/>
              <a:buChar char="●"/>
            </a:pPr>
            <a:r>
              <a:rPr lang="en" sz="27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Used in home appliances such as lights.</a:t>
            </a:r>
            <a:endParaRPr sz="27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/>
          <p:nvPr/>
        </p:nvSpPr>
        <p:spPr>
          <a:xfrm>
            <a:off x="4786000" y="0"/>
            <a:ext cx="4358100" cy="5143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lt1"/>
                </a:solidFill>
                <a:latin typeface="Raleway ExtraLight"/>
                <a:ea typeface="Raleway ExtraLight"/>
                <a:cs typeface="Raleway ExtraLight"/>
                <a:sym typeface="Raleway ExtraLight"/>
              </a:rPr>
              <a:t>I</a:t>
            </a:r>
            <a:r>
              <a:rPr lang="en" sz="3300">
                <a:solidFill>
                  <a:schemeClr val="lt1"/>
                </a:solidFill>
                <a:latin typeface="Raleway ExtraLight"/>
                <a:ea typeface="Raleway ExtraLight"/>
                <a:cs typeface="Raleway ExtraLight"/>
                <a:sym typeface="Raleway ExtraLight"/>
              </a:rPr>
              <a:t>MPLEMENTATION </a:t>
            </a:r>
            <a:r>
              <a:rPr lang="en" sz="6500">
                <a:solidFill>
                  <a:schemeClr val="lt1"/>
                </a:solidFill>
                <a:latin typeface="Raleway ExtraLight"/>
                <a:ea typeface="Raleway ExtraLight"/>
                <a:cs typeface="Raleway ExtraLight"/>
                <a:sym typeface="Raleway ExtraLight"/>
              </a:rPr>
              <a:t>R</a:t>
            </a:r>
            <a:r>
              <a:rPr lang="en" sz="3300">
                <a:solidFill>
                  <a:schemeClr val="lt1"/>
                </a:solidFill>
                <a:latin typeface="Raleway ExtraLight"/>
                <a:ea typeface="Raleway ExtraLight"/>
                <a:cs typeface="Raleway ExtraLight"/>
                <a:sym typeface="Raleway ExtraLight"/>
              </a:rPr>
              <a:t>EQUIREMENTS</a:t>
            </a:r>
            <a:endParaRPr sz="3300">
              <a:solidFill>
                <a:schemeClr val="lt1"/>
              </a:solidFill>
              <a:latin typeface="Raleway ExtraLight"/>
              <a:ea typeface="Raleway ExtraLight"/>
              <a:cs typeface="Raleway ExtraLight"/>
              <a:sym typeface="Raleway ExtraLight"/>
            </a:endParaRPr>
          </a:p>
        </p:txBody>
      </p:sp>
      <p:sp>
        <p:nvSpPr>
          <p:cNvPr id="133" name="Google Shape;133;p20"/>
          <p:cNvSpPr txBox="1"/>
          <p:nvPr/>
        </p:nvSpPr>
        <p:spPr>
          <a:xfrm>
            <a:off x="43775" y="14600"/>
            <a:ext cx="4742100" cy="51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HARDWARE</a:t>
            </a:r>
            <a:endParaRPr b="1" sz="3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Char char="●"/>
            </a:pPr>
            <a:r>
              <a:rPr lang="en" sz="2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Webcam</a:t>
            </a:r>
            <a:endParaRPr sz="2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Char char="●"/>
            </a:pPr>
            <a:r>
              <a:rPr lang="en" sz="2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 device supporting Python programming language.</a:t>
            </a:r>
            <a:endParaRPr sz="2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SOFTWARE</a:t>
            </a:r>
            <a:endParaRPr b="1" sz="3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ato"/>
              <a:buChar char="●"/>
            </a:pPr>
            <a:r>
              <a:rPr lang="en" sz="2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Operating System</a:t>
            </a:r>
            <a:endParaRPr sz="2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ato"/>
              <a:buChar char="●"/>
            </a:pPr>
            <a:r>
              <a:rPr lang="en" sz="2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Python IDE(Version 3.9 or greater)</a:t>
            </a:r>
            <a:endParaRPr sz="2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ato"/>
              <a:buChar char="●"/>
            </a:pPr>
            <a:r>
              <a:rPr lang="en" sz="2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Libraries</a:t>
            </a:r>
            <a:endParaRPr sz="2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ato"/>
              <a:buChar char="●"/>
            </a:pPr>
            <a:r>
              <a:rPr lang="en" sz="2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Text Editor</a:t>
            </a:r>
            <a:endParaRPr sz="2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ato"/>
              <a:buChar char="●"/>
            </a:pPr>
            <a:r>
              <a:rPr lang="en" sz="2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Compatible Presentation Software</a:t>
            </a:r>
            <a:endParaRPr b="1" sz="2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type="title"/>
          </p:nvPr>
        </p:nvSpPr>
        <p:spPr>
          <a:xfrm flipH="1">
            <a:off x="110352" y="1912648"/>
            <a:ext cx="4041600" cy="131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800">
                <a:solidFill>
                  <a:schemeClr val="lt1"/>
                </a:solidFill>
                <a:latin typeface="Raleway ExtraLight"/>
                <a:ea typeface="Raleway ExtraLight"/>
                <a:cs typeface="Raleway ExtraLight"/>
                <a:sym typeface="Raleway ExtraLight"/>
              </a:rPr>
              <a:t>BASIC PYTHON CONCEPTS</a:t>
            </a:r>
            <a:endParaRPr b="0" sz="100">
              <a:solidFill>
                <a:schemeClr val="lt1"/>
              </a:solidFill>
              <a:latin typeface="Raleway ExtraLight"/>
              <a:ea typeface="Raleway ExtraLight"/>
              <a:cs typeface="Raleway ExtraLight"/>
              <a:sym typeface="Raleway ExtraLight"/>
            </a:endParaRPr>
          </a:p>
        </p:txBody>
      </p:sp>
      <p:sp>
        <p:nvSpPr>
          <p:cNvPr id="139" name="Google Shape;139;p21"/>
          <p:cNvSpPr/>
          <p:nvPr/>
        </p:nvSpPr>
        <p:spPr>
          <a:xfrm>
            <a:off x="4310700" y="0"/>
            <a:ext cx="4833300" cy="514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0" name="Google Shape;140;p21"/>
          <p:cNvSpPr txBox="1"/>
          <p:nvPr>
            <p:ph idx="2" type="body"/>
          </p:nvPr>
        </p:nvSpPr>
        <p:spPr>
          <a:xfrm>
            <a:off x="4310700" y="-143300"/>
            <a:ext cx="4833300" cy="51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Char char="●"/>
            </a:pPr>
            <a:r>
              <a:rPr b="1" lang="en" sz="2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CONDITIONAL STATEMENTS</a:t>
            </a:r>
            <a:endParaRPr b="1" sz="25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Char char="●"/>
            </a:pPr>
            <a:r>
              <a:rPr b="1" lang="en" sz="2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LOOPS</a:t>
            </a:r>
            <a:endParaRPr b="1" sz="25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Char char="●"/>
            </a:pPr>
            <a:r>
              <a:rPr b="1" lang="en" sz="2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IMPORTING MODULES</a:t>
            </a:r>
            <a:endParaRPr b="1" sz="25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Char char="●"/>
            </a:pPr>
            <a:r>
              <a:rPr b="1" lang="en" sz="2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VARIABLES</a:t>
            </a:r>
            <a:endParaRPr b="1" sz="25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type="title"/>
          </p:nvPr>
        </p:nvSpPr>
        <p:spPr>
          <a:xfrm>
            <a:off x="4638150" y="2707025"/>
            <a:ext cx="43011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700">
                <a:solidFill>
                  <a:schemeClr val="lt1"/>
                </a:solidFill>
                <a:latin typeface="Raleway ExtraLight"/>
                <a:ea typeface="Raleway ExtraLight"/>
                <a:cs typeface="Raleway ExtraLight"/>
                <a:sym typeface="Raleway ExtraLight"/>
              </a:rPr>
              <a:t>P</a:t>
            </a:r>
            <a:r>
              <a:rPr b="0" lang="en" sz="3800">
                <a:solidFill>
                  <a:schemeClr val="lt1"/>
                </a:solidFill>
                <a:latin typeface="Raleway ExtraLight"/>
                <a:ea typeface="Raleway ExtraLight"/>
                <a:cs typeface="Raleway ExtraLight"/>
                <a:sym typeface="Raleway ExtraLight"/>
              </a:rPr>
              <a:t>YTHON </a:t>
            </a:r>
            <a:r>
              <a:rPr b="0" lang="en" sz="7700">
                <a:solidFill>
                  <a:schemeClr val="lt1"/>
                </a:solidFill>
                <a:latin typeface="Raleway ExtraLight"/>
                <a:ea typeface="Raleway ExtraLight"/>
                <a:cs typeface="Raleway ExtraLight"/>
                <a:sym typeface="Raleway ExtraLight"/>
              </a:rPr>
              <a:t>D</a:t>
            </a:r>
            <a:r>
              <a:rPr b="0" lang="en" sz="3800">
                <a:solidFill>
                  <a:schemeClr val="lt1"/>
                </a:solidFill>
                <a:latin typeface="Raleway ExtraLight"/>
                <a:ea typeface="Raleway ExtraLight"/>
                <a:cs typeface="Raleway ExtraLight"/>
                <a:sym typeface="Raleway ExtraLight"/>
              </a:rPr>
              <a:t>ATA </a:t>
            </a:r>
            <a:r>
              <a:rPr b="0" lang="en" sz="7700">
                <a:solidFill>
                  <a:schemeClr val="lt1"/>
                </a:solidFill>
                <a:latin typeface="Raleway ExtraLight"/>
                <a:ea typeface="Raleway ExtraLight"/>
                <a:cs typeface="Raleway ExtraLight"/>
                <a:sym typeface="Raleway ExtraLight"/>
              </a:rPr>
              <a:t>S</a:t>
            </a:r>
            <a:r>
              <a:rPr b="0" lang="en" sz="3800">
                <a:solidFill>
                  <a:schemeClr val="lt1"/>
                </a:solidFill>
                <a:latin typeface="Raleway ExtraLight"/>
                <a:ea typeface="Raleway ExtraLight"/>
                <a:cs typeface="Raleway ExtraLight"/>
                <a:sym typeface="Raleway ExtraLight"/>
              </a:rPr>
              <a:t>TRUCTURES</a:t>
            </a:r>
            <a:endParaRPr b="0" sz="3800">
              <a:solidFill>
                <a:schemeClr val="lt1"/>
              </a:solidFill>
              <a:latin typeface="Raleway ExtraLight"/>
              <a:ea typeface="Raleway ExtraLight"/>
              <a:cs typeface="Raleway ExtraLight"/>
              <a:sym typeface="Raleway ExtraLight"/>
            </a:endParaRPr>
          </a:p>
        </p:txBody>
      </p:sp>
      <p:sp>
        <p:nvSpPr>
          <p:cNvPr id="146" name="Google Shape;146;p22"/>
          <p:cNvSpPr txBox="1"/>
          <p:nvPr>
            <p:ph idx="2" type="body"/>
          </p:nvPr>
        </p:nvSpPr>
        <p:spPr>
          <a:xfrm>
            <a:off x="95375" y="1349725"/>
            <a:ext cx="4431900" cy="373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476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"/>
              <a:buFont typeface="Arial"/>
              <a:buChar char="■"/>
            </a:pPr>
            <a:r>
              <a:t/>
            </a:r>
            <a:endParaRPr sz="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Char char="●"/>
            </a:pPr>
            <a:r>
              <a:rPr lang="en" sz="2300">
                <a:solidFill>
                  <a:schemeClr val="dk2"/>
                </a:solidFill>
              </a:rPr>
              <a:t>LISTS</a:t>
            </a:r>
            <a:endParaRPr sz="2300">
              <a:solidFill>
                <a:schemeClr val="dk2"/>
              </a:solidFill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Char char="●"/>
            </a:pPr>
            <a:r>
              <a:rPr lang="en" sz="2300">
                <a:solidFill>
                  <a:schemeClr val="dk2"/>
                </a:solidFill>
              </a:rPr>
              <a:t>TUPLES</a:t>
            </a:r>
            <a:endParaRPr sz="2300">
              <a:solidFill>
                <a:schemeClr val="dk2"/>
              </a:solidFill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Char char="●"/>
            </a:pPr>
            <a:r>
              <a:rPr lang="en" sz="2300">
                <a:solidFill>
                  <a:schemeClr val="dk2"/>
                </a:solidFill>
              </a:rPr>
              <a:t>DICTIONARIES</a:t>
            </a:r>
            <a:endParaRPr sz="2300">
              <a:solidFill>
                <a:schemeClr val="dk2"/>
              </a:solidFill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Char char="●"/>
            </a:pPr>
            <a:r>
              <a:rPr lang="en" sz="2300">
                <a:solidFill>
                  <a:schemeClr val="dk2"/>
                </a:solidFill>
              </a:rPr>
              <a:t>SETS</a:t>
            </a:r>
            <a:endParaRPr sz="2300">
              <a:solidFill>
                <a:schemeClr val="dk2"/>
              </a:solidFill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Char char="●"/>
            </a:pPr>
            <a:r>
              <a:rPr lang="en" sz="2300">
                <a:solidFill>
                  <a:schemeClr val="dk2"/>
                </a:solidFill>
              </a:rPr>
              <a:t>BOOLEAN VALUES</a:t>
            </a:r>
            <a:endParaRPr sz="23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/>
          <p:nvPr/>
        </p:nvSpPr>
        <p:spPr>
          <a:xfrm>
            <a:off x="4742700" y="1050575"/>
            <a:ext cx="4401300" cy="3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Char char="●"/>
            </a:pPr>
            <a:r>
              <a:rPr lang="en" sz="24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CLASSES</a:t>
            </a:r>
            <a:endParaRPr sz="24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Char char="●"/>
            </a:pPr>
            <a:r>
              <a:rPr lang="en" sz="24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OBJECTS</a:t>
            </a:r>
            <a:endParaRPr sz="24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Char char="●"/>
            </a:pPr>
            <a:r>
              <a:rPr lang="en" sz="24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ENCAPSULATION</a:t>
            </a:r>
            <a:endParaRPr sz="24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Char char="●"/>
            </a:pPr>
            <a:r>
              <a:rPr lang="en" sz="24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INHERITANCE</a:t>
            </a:r>
            <a:endParaRPr sz="24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Char char="●"/>
            </a:pPr>
            <a:r>
              <a:rPr lang="en" sz="24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ABSTRACTION</a:t>
            </a:r>
            <a:endParaRPr sz="24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Char char="●"/>
            </a:pPr>
            <a:r>
              <a:rPr lang="en" sz="24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POLYMORPHISM</a:t>
            </a:r>
            <a:endParaRPr sz="24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Char char="●"/>
            </a:pPr>
            <a:r>
              <a:rPr lang="en" sz="24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CONSTRUCTOR METHOD</a:t>
            </a:r>
            <a:endParaRPr sz="24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2" name="Google Shape;152;p23"/>
          <p:cNvSpPr/>
          <p:nvPr/>
        </p:nvSpPr>
        <p:spPr>
          <a:xfrm>
            <a:off x="0" y="0"/>
            <a:ext cx="4677900" cy="5143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lt1"/>
                </a:solidFill>
                <a:latin typeface="Raleway ExtraLight"/>
                <a:ea typeface="Raleway ExtraLight"/>
                <a:cs typeface="Raleway ExtraLight"/>
                <a:sym typeface="Raleway ExtraLight"/>
              </a:rPr>
              <a:t>P</a:t>
            </a:r>
            <a:r>
              <a:rPr lang="en" sz="3500">
                <a:solidFill>
                  <a:schemeClr val="lt1"/>
                </a:solidFill>
                <a:latin typeface="Raleway ExtraLight"/>
                <a:ea typeface="Raleway ExtraLight"/>
                <a:cs typeface="Raleway ExtraLight"/>
                <a:sym typeface="Raleway ExtraLight"/>
              </a:rPr>
              <a:t>YTHON </a:t>
            </a:r>
            <a:r>
              <a:rPr lang="en" sz="7000">
                <a:solidFill>
                  <a:schemeClr val="lt1"/>
                </a:solidFill>
                <a:latin typeface="Raleway ExtraLight"/>
                <a:ea typeface="Raleway ExtraLight"/>
                <a:cs typeface="Raleway ExtraLight"/>
                <a:sym typeface="Raleway ExtraLight"/>
              </a:rPr>
              <a:t>O</a:t>
            </a:r>
            <a:r>
              <a:rPr lang="en" sz="3500">
                <a:solidFill>
                  <a:schemeClr val="lt1"/>
                </a:solidFill>
                <a:latin typeface="Raleway ExtraLight"/>
                <a:ea typeface="Raleway ExtraLight"/>
                <a:cs typeface="Raleway ExtraLight"/>
                <a:sym typeface="Raleway ExtraLight"/>
              </a:rPr>
              <a:t>OPS</a:t>
            </a:r>
            <a:endParaRPr sz="3500">
              <a:solidFill>
                <a:schemeClr val="lt1"/>
              </a:solidFill>
              <a:latin typeface="Raleway ExtraLight"/>
              <a:ea typeface="Raleway ExtraLight"/>
              <a:cs typeface="Raleway ExtraLight"/>
              <a:sym typeface="Raleway Extra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lt1"/>
                </a:solidFill>
                <a:latin typeface="Raleway ExtraLight"/>
                <a:ea typeface="Raleway ExtraLight"/>
                <a:cs typeface="Raleway ExtraLight"/>
                <a:sym typeface="Raleway ExtraLight"/>
              </a:rPr>
              <a:t>C</a:t>
            </a:r>
            <a:r>
              <a:rPr lang="en" sz="3500">
                <a:solidFill>
                  <a:schemeClr val="lt1"/>
                </a:solidFill>
                <a:latin typeface="Raleway ExtraLight"/>
                <a:ea typeface="Raleway ExtraLight"/>
                <a:cs typeface="Raleway ExtraLight"/>
                <a:sym typeface="Raleway ExtraLight"/>
              </a:rPr>
              <a:t>ONCEPTS</a:t>
            </a:r>
            <a:endParaRPr sz="3500">
              <a:solidFill>
                <a:schemeClr val="lt1"/>
              </a:solidFill>
              <a:latin typeface="Raleway ExtraLight"/>
              <a:ea typeface="Raleway ExtraLight"/>
              <a:cs typeface="Raleway ExtraLight"/>
              <a:sym typeface="Raleway Extra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3" name="Google Shape;153;p23"/>
          <p:cNvSpPr txBox="1"/>
          <p:nvPr>
            <p:ph idx="4294967295" type="title"/>
          </p:nvPr>
        </p:nvSpPr>
        <p:spPr>
          <a:xfrm rot="-5400000">
            <a:off x="-674650" y="2497800"/>
            <a:ext cx="5122800" cy="1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solidFill>
                  <a:schemeClr val="lt1"/>
                </a:solidFill>
              </a:rPr>
              <a:t>    </a:t>
            </a:r>
            <a:endParaRPr sz="2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type="title"/>
          </p:nvPr>
        </p:nvSpPr>
        <p:spPr>
          <a:xfrm>
            <a:off x="4638150" y="2707025"/>
            <a:ext cx="43011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0">
                <a:solidFill>
                  <a:schemeClr val="lt1"/>
                </a:solidFill>
                <a:latin typeface="Raleway ExtraLight"/>
                <a:ea typeface="Raleway ExtraLight"/>
                <a:cs typeface="Raleway ExtraLight"/>
                <a:sym typeface="Raleway ExtraLight"/>
              </a:rPr>
              <a:t>M</a:t>
            </a:r>
            <a:r>
              <a:rPr b="0" lang="en" sz="5900">
                <a:solidFill>
                  <a:schemeClr val="lt1"/>
                </a:solidFill>
                <a:latin typeface="Raleway ExtraLight"/>
                <a:ea typeface="Raleway ExtraLight"/>
                <a:cs typeface="Raleway ExtraLight"/>
                <a:sym typeface="Raleway ExtraLight"/>
              </a:rPr>
              <a:t>ODULES</a:t>
            </a:r>
            <a:endParaRPr b="0" sz="5900">
              <a:solidFill>
                <a:schemeClr val="lt1"/>
              </a:solidFill>
              <a:latin typeface="Raleway ExtraLight"/>
              <a:ea typeface="Raleway ExtraLight"/>
              <a:cs typeface="Raleway ExtraLight"/>
              <a:sym typeface="Raleway ExtraLight"/>
            </a:endParaRPr>
          </a:p>
        </p:txBody>
      </p:sp>
      <p:sp>
        <p:nvSpPr>
          <p:cNvPr id="159" name="Google Shape;159;p24"/>
          <p:cNvSpPr txBox="1"/>
          <p:nvPr>
            <p:ph idx="2" type="body"/>
          </p:nvPr>
        </p:nvSpPr>
        <p:spPr>
          <a:xfrm>
            <a:off x="95375" y="66025"/>
            <a:ext cx="4431900" cy="501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4"/>
          <p:cNvSpPr txBox="1"/>
          <p:nvPr/>
        </p:nvSpPr>
        <p:spPr>
          <a:xfrm>
            <a:off x="124775" y="0"/>
            <a:ext cx="4373100" cy="57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Mediapipe</a:t>
            </a: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Facilitates processing  media data such as video and audio and also supports face detection,hand tracking and object detection.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Cv2</a:t>
            </a: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Provides tools for computer vision and image </a:t>
            </a: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processing</a:t>
            </a: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tasks. It allow computers </a:t>
            </a: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to</a:t>
            </a: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identify objects,faces or even the motion of objects across frames.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Psutil</a:t>
            </a: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It can provide details about the computer’s CPU,memory,disks,network,running processes.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Pyautogui:</a:t>
            </a: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Facilitates automation on computer by controlling the mouse and keyboard programmatically.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/>
        </p:nvSpPr>
        <p:spPr>
          <a:xfrm>
            <a:off x="1626450" y="1371125"/>
            <a:ext cx="7063800" cy="2628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900">
                <a:solidFill>
                  <a:schemeClr val="lt1"/>
                </a:solidFill>
                <a:latin typeface="Raleway ExtraLight"/>
                <a:ea typeface="Raleway ExtraLight"/>
                <a:cs typeface="Raleway ExtraLight"/>
                <a:sym typeface="Raleway ExtraLight"/>
              </a:rPr>
              <a:t>F</a:t>
            </a:r>
            <a:r>
              <a:rPr lang="en" sz="5300">
                <a:solidFill>
                  <a:schemeClr val="lt1"/>
                </a:solidFill>
                <a:latin typeface="Raleway ExtraLight"/>
                <a:ea typeface="Raleway ExtraLight"/>
                <a:cs typeface="Raleway ExtraLight"/>
                <a:sym typeface="Raleway ExtraLight"/>
              </a:rPr>
              <a:t>LOW OF </a:t>
            </a:r>
            <a:r>
              <a:rPr lang="en" sz="10900">
                <a:solidFill>
                  <a:schemeClr val="lt1"/>
                </a:solidFill>
                <a:latin typeface="Raleway ExtraLight"/>
                <a:ea typeface="Raleway ExtraLight"/>
                <a:cs typeface="Raleway ExtraLight"/>
                <a:sym typeface="Raleway ExtraLight"/>
              </a:rPr>
              <a:t>D</a:t>
            </a:r>
            <a:r>
              <a:rPr lang="en" sz="5300">
                <a:solidFill>
                  <a:schemeClr val="lt1"/>
                </a:solidFill>
                <a:latin typeface="Raleway ExtraLight"/>
                <a:ea typeface="Raleway ExtraLight"/>
                <a:cs typeface="Raleway ExtraLight"/>
                <a:sym typeface="Raleway ExtraLight"/>
              </a:rPr>
              <a:t>ATA</a:t>
            </a:r>
            <a:endParaRPr sz="6700">
              <a:solidFill>
                <a:schemeClr val="lt1"/>
              </a:solidFill>
              <a:latin typeface="Raleway ExtraLight"/>
              <a:ea typeface="Raleway ExtraLight"/>
              <a:cs typeface="Raleway ExtraLight"/>
              <a:sym typeface="Raleway ExtraLigh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Background pointer shape in timeline graphic" id="170" name="Google Shape;170;p26"/>
          <p:cNvSpPr/>
          <p:nvPr/>
        </p:nvSpPr>
        <p:spPr>
          <a:xfrm>
            <a:off x="1153475" y="2241826"/>
            <a:ext cx="1872300" cy="7203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1" name="Google Shape;171;p26"/>
          <p:cNvGrpSpPr/>
          <p:nvPr/>
        </p:nvGrpSpPr>
        <p:grpSpPr>
          <a:xfrm>
            <a:off x="1781811" y="1672944"/>
            <a:ext cx="198900" cy="573591"/>
            <a:chOff x="777447" y="1610215"/>
            <a:chExt cx="198900" cy="593656"/>
          </a:xfrm>
        </p:grpSpPr>
        <p:cxnSp>
          <p:nvCxnSpPr>
            <p:cNvPr id="172" name="Google Shape;172;p26"/>
            <p:cNvCxnSpPr/>
            <p:nvPr/>
          </p:nvCxnSpPr>
          <p:spPr>
            <a:xfrm>
              <a:off x="876909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3" name="Google Shape;173;p26"/>
            <p:cNvSpPr/>
            <p:nvPr/>
          </p:nvSpPr>
          <p:spPr>
            <a:xfrm>
              <a:off x="777447" y="1610215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descr="Background pointer shape in timeline graphic" id="174" name="Google Shape;174;p26"/>
          <p:cNvSpPr/>
          <p:nvPr/>
        </p:nvSpPr>
        <p:spPr>
          <a:xfrm>
            <a:off x="2636942" y="2244169"/>
            <a:ext cx="2051100" cy="7203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5" name="Google Shape;175;p26"/>
          <p:cNvGrpSpPr/>
          <p:nvPr/>
        </p:nvGrpSpPr>
        <p:grpSpPr>
          <a:xfrm rot="10800000">
            <a:off x="5285086" y="1672943"/>
            <a:ext cx="198900" cy="573590"/>
            <a:chOff x="2223534" y="2938958"/>
            <a:chExt cx="198900" cy="593656"/>
          </a:xfrm>
        </p:grpSpPr>
        <p:cxnSp>
          <p:nvCxnSpPr>
            <p:cNvPr id="176" name="Google Shape;176;p26"/>
            <p:cNvCxnSpPr/>
            <p:nvPr/>
          </p:nvCxnSpPr>
          <p:spPr>
            <a:xfrm rot="10800000">
              <a:off x="2322997" y="2938958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7" name="Google Shape;177;p26"/>
            <p:cNvSpPr/>
            <p:nvPr/>
          </p:nvSpPr>
          <p:spPr>
            <a:xfrm flipH="1" rot="10800000">
              <a:off x="2223534" y="3333714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descr="Background pointer shape in timeline graphic" id="178" name="Google Shape;178;p26"/>
          <p:cNvSpPr/>
          <p:nvPr/>
        </p:nvSpPr>
        <p:spPr>
          <a:xfrm>
            <a:off x="4284509" y="2241826"/>
            <a:ext cx="2051100" cy="7203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Background pointer shape in timeline graphic" id="179" name="Google Shape;179;p26"/>
          <p:cNvSpPr/>
          <p:nvPr/>
        </p:nvSpPr>
        <p:spPr>
          <a:xfrm>
            <a:off x="5989800" y="2241825"/>
            <a:ext cx="2000700" cy="7203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Automation</a:t>
            </a:r>
            <a:endParaRPr sz="1600">
              <a:solidFill>
                <a:schemeClr val="lt1"/>
              </a:solidFill>
            </a:endParaRPr>
          </a:p>
        </p:txBody>
      </p:sp>
      <p:grpSp>
        <p:nvGrpSpPr>
          <p:cNvPr id="180" name="Google Shape;180;p26"/>
          <p:cNvGrpSpPr/>
          <p:nvPr/>
        </p:nvGrpSpPr>
        <p:grpSpPr>
          <a:xfrm rot="10800000">
            <a:off x="6699355" y="2962115"/>
            <a:ext cx="198900" cy="573591"/>
            <a:chOff x="3918084" y="1610215"/>
            <a:chExt cx="198900" cy="593656"/>
          </a:xfrm>
        </p:grpSpPr>
        <p:cxnSp>
          <p:nvCxnSpPr>
            <p:cNvPr id="181" name="Google Shape;181;p26"/>
            <p:cNvCxnSpPr/>
            <p:nvPr/>
          </p:nvCxnSpPr>
          <p:spPr>
            <a:xfrm>
              <a:off x="4017546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2" name="Google Shape;182;p26"/>
            <p:cNvSpPr/>
            <p:nvPr/>
          </p:nvSpPr>
          <p:spPr>
            <a:xfrm>
              <a:off x="3918084" y="1610215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83" name="Google Shape;183;p26"/>
          <p:cNvCxnSpPr/>
          <p:nvPr/>
        </p:nvCxnSpPr>
        <p:spPr>
          <a:xfrm rot="10800000">
            <a:off x="3512262" y="2964428"/>
            <a:ext cx="7200" cy="38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" name="Google Shape;184;p26"/>
          <p:cNvSpPr/>
          <p:nvPr/>
        </p:nvSpPr>
        <p:spPr>
          <a:xfrm rot="10800000">
            <a:off x="3423961" y="3345219"/>
            <a:ext cx="198900" cy="188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5" name="Google Shape;185;p26"/>
          <p:cNvSpPr txBox="1"/>
          <p:nvPr/>
        </p:nvSpPr>
        <p:spPr>
          <a:xfrm>
            <a:off x="846300" y="328300"/>
            <a:ext cx="420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6" name="Google Shape;186;p26"/>
          <p:cNvSpPr txBox="1"/>
          <p:nvPr/>
        </p:nvSpPr>
        <p:spPr>
          <a:xfrm>
            <a:off x="678500" y="58375"/>
            <a:ext cx="2841000" cy="16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The image is captured through a webcam and is detected by the computer with the help of </a:t>
            </a:r>
            <a:r>
              <a:rPr b="1" lang="en" sz="1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OpenCv</a:t>
            </a:r>
            <a:r>
              <a:rPr lang="en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module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7" name="Google Shape;187;p26"/>
          <p:cNvSpPr txBox="1"/>
          <p:nvPr/>
        </p:nvSpPr>
        <p:spPr>
          <a:xfrm>
            <a:off x="1170725" y="2259400"/>
            <a:ext cx="1837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Image Capture &amp; Detection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8" name="Google Shape;188;p26"/>
          <p:cNvSpPr txBox="1"/>
          <p:nvPr/>
        </p:nvSpPr>
        <p:spPr>
          <a:xfrm>
            <a:off x="2211850" y="3533425"/>
            <a:ext cx="2901300" cy="11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Mediapipe</a:t>
            </a:r>
            <a:r>
              <a:rPr lang="en"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processes the image to be utilised with the Hand Tracking module</a:t>
            </a:r>
            <a:endParaRPr sz="1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9" name="Google Shape;189;p26"/>
          <p:cNvSpPr txBox="1"/>
          <p:nvPr/>
        </p:nvSpPr>
        <p:spPr>
          <a:xfrm>
            <a:off x="3008525" y="2259400"/>
            <a:ext cx="1622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Image Processing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0" name="Google Shape;190;p26"/>
          <p:cNvSpPr txBox="1"/>
          <p:nvPr/>
        </p:nvSpPr>
        <p:spPr>
          <a:xfrm>
            <a:off x="4610900" y="2241813"/>
            <a:ext cx="1663500" cy="5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Task Management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1" name="Google Shape;191;p26"/>
          <p:cNvSpPr txBox="1"/>
          <p:nvPr/>
        </p:nvSpPr>
        <p:spPr>
          <a:xfrm>
            <a:off x="4022150" y="0"/>
            <a:ext cx="2841000" cy="13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b="1" lang="en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Psutil</a:t>
            </a:r>
            <a:r>
              <a:rPr lang="en" sz="17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accesses the tasks </a:t>
            </a:r>
            <a:r>
              <a:rPr lang="en" sz="17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currently</a:t>
            </a:r>
            <a:r>
              <a:rPr lang="en" sz="17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17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running</a:t>
            </a:r>
            <a:r>
              <a:rPr lang="en" sz="17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in the computer and ensures that the code gets executed only when a compatible process gets initiated</a:t>
            </a:r>
            <a:endParaRPr sz="17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2" name="Google Shape;192;p26"/>
          <p:cNvSpPr txBox="1"/>
          <p:nvPr/>
        </p:nvSpPr>
        <p:spPr>
          <a:xfrm>
            <a:off x="4574425" y="1138125"/>
            <a:ext cx="420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3" name="Google Shape;193;p26"/>
          <p:cNvSpPr txBox="1"/>
          <p:nvPr/>
        </p:nvSpPr>
        <p:spPr>
          <a:xfrm>
            <a:off x="6639125" y="2582700"/>
            <a:ext cx="251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4" name="Google Shape;194;p26"/>
          <p:cNvSpPr txBox="1"/>
          <p:nvPr/>
        </p:nvSpPr>
        <p:spPr>
          <a:xfrm>
            <a:off x="5641950" y="3567650"/>
            <a:ext cx="2696400" cy="12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Pyautogui </a:t>
            </a: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module translates the hand gestures into inputs through keyboard and mouse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 txBox="1"/>
          <p:nvPr>
            <p:ph type="title"/>
          </p:nvPr>
        </p:nvSpPr>
        <p:spPr>
          <a:xfrm>
            <a:off x="4650825" y="1648825"/>
            <a:ext cx="4431900" cy="15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400">
                <a:solidFill>
                  <a:schemeClr val="lt1"/>
                </a:solidFill>
                <a:latin typeface="Raleway ExtraLight"/>
                <a:ea typeface="Raleway ExtraLight"/>
                <a:cs typeface="Raleway ExtraLight"/>
                <a:sym typeface="Raleway ExtraLight"/>
              </a:rPr>
              <a:t>C</a:t>
            </a:r>
            <a:r>
              <a:rPr b="0" lang="en" sz="3800">
                <a:solidFill>
                  <a:schemeClr val="lt1"/>
                </a:solidFill>
                <a:latin typeface="Raleway ExtraLight"/>
                <a:ea typeface="Raleway ExtraLight"/>
                <a:cs typeface="Raleway ExtraLight"/>
                <a:sym typeface="Raleway ExtraLight"/>
              </a:rPr>
              <a:t>ONTRIBUTIONS</a:t>
            </a:r>
            <a:endParaRPr b="0" sz="3800">
              <a:solidFill>
                <a:schemeClr val="lt1"/>
              </a:solidFill>
              <a:latin typeface="Raleway ExtraLight"/>
              <a:ea typeface="Raleway ExtraLight"/>
              <a:cs typeface="Raleway ExtraLight"/>
              <a:sym typeface="Raleway ExtraLight"/>
            </a:endParaRPr>
          </a:p>
        </p:txBody>
      </p:sp>
      <p:sp>
        <p:nvSpPr>
          <p:cNvPr id="200" name="Google Shape;200;p27"/>
          <p:cNvSpPr txBox="1"/>
          <p:nvPr>
            <p:ph idx="2" type="body"/>
          </p:nvPr>
        </p:nvSpPr>
        <p:spPr>
          <a:xfrm>
            <a:off x="95375" y="87550"/>
            <a:ext cx="4431900" cy="499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476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"/>
              <a:buFont typeface="Arial"/>
              <a:buChar char="■"/>
            </a:pPr>
            <a:r>
              <a:t/>
            </a:r>
            <a:endParaRPr sz="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</p:txBody>
      </p:sp>
      <p:sp>
        <p:nvSpPr>
          <p:cNvPr id="201" name="Google Shape;201;p27"/>
          <p:cNvSpPr txBox="1"/>
          <p:nvPr/>
        </p:nvSpPr>
        <p:spPr>
          <a:xfrm>
            <a:off x="0" y="1079775"/>
            <a:ext cx="4541400" cy="40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Lato"/>
              <a:buChar char="●"/>
            </a:pPr>
            <a:r>
              <a:rPr lang="en" sz="27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Educational Resource</a:t>
            </a:r>
            <a:endParaRPr sz="27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Lato"/>
              <a:buChar char="●"/>
            </a:pPr>
            <a:r>
              <a:rPr lang="en" sz="27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User Experience Improvement</a:t>
            </a:r>
            <a:endParaRPr sz="27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Lato"/>
              <a:buChar char="●"/>
            </a:pPr>
            <a:r>
              <a:rPr lang="en" sz="27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Feedback</a:t>
            </a:r>
            <a:endParaRPr sz="27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Lato"/>
              <a:buChar char="●"/>
            </a:pPr>
            <a:r>
              <a:rPr lang="en" sz="27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Hands free alternative to traditional input devices</a:t>
            </a:r>
            <a:endParaRPr sz="27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 txBox="1"/>
          <p:nvPr/>
        </p:nvSpPr>
        <p:spPr>
          <a:xfrm>
            <a:off x="1726800" y="118925"/>
            <a:ext cx="7422900" cy="51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" sz="2400">
                <a:solidFill>
                  <a:schemeClr val="dk1"/>
                </a:solidFill>
              </a:rPr>
              <a:t>USER FRIENDLY INTERFACE</a:t>
            </a:r>
            <a:r>
              <a:rPr b="1" lang="en" sz="2400">
                <a:solidFill>
                  <a:schemeClr val="dk1"/>
                </a:solidFill>
              </a:rPr>
              <a:t>:</a:t>
            </a:r>
            <a:r>
              <a:rPr b="1" lang="en" sz="2500">
                <a:solidFill>
                  <a:schemeClr val="dk1"/>
                </a:solidFill>
              </a:rPr>
              <a:t> </a:t>
            </a:r>
            <a:endParaRPr b="1" sz="2500">
              <a:solidFill>
                <a:schemeClr val="dk1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</a:rPr>
              <a:t>Enables user to easily understand hand controlled gestures.</a:t>
            </a:r>
            <a:endParaRPr sz="100">
              <a:solidFill>
                <a:schemeClr val="dk2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" sz="2400">
                <a:solidFill>
                  <a:schemeClr val="dk1"/>
                </a:solidFill>
              </a:rPr>
              <a:t>REAL-TIME RESPONSE:</a:t>
            </a:r>
            <a:r>
              <a:rPr b="1" lang="en" sz="2500">
                <a:solidFill>
                  <a:schemeClr val="dk2"/>
                </a:solidFill>
              </a:rPr>
              <a:t> </a:t>
            </a:r>
            <a:endParaRPr b="1" sz="2500">
              <a:solidFill>
                <a:schemeClr val="dk2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</a:rPr>
              <a:t>Real-time response ensures to provide a seamless experience.</a:t>
            </a:r>
            <a:endParaRPr sz="100">
              <a:solidFill>
                <a:schemeClr val="dk2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" sz="2400">
                <a:solidFill>
                  <a:schemeClr val="dk1"/>
                </a:solidFill>
              </a:rPr>
              <a:t>DEMO AND TUTORIALS:</a:t>
            </a:r>
            <a:r>
              <a:rPr b="1" lang="en" sz="2400">
                <a:solidFill>
                  <a:schemeClr val="dk2"/>
                </a:solidFill>
              </a:rPr>
              <a:t> </a:t>
            </a:r>
            <a:endParaRPr b="1" sz="2400">
              <a:solidFill>
                <a:schemeClr val="dk2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</a:rPr>
              <a:t>Going through the documentation and tutorials is easier for the user.</a:t>
            </a:r>
            <a:endParaRPr sz="100">
              <a:solidFill>
                <a:schemeClr val="dk2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" sz="2400">
                <a:solidFill>
                  <a:schemeClr val="dk1"/>
                </a:solidFill>
              </a:rPr>
              <a:t>ACCESSIBILITY: </a:t>
            </a:r>
            <a:endParaRPr b="1" sz="2400">
              <a:solidFill>
                <a:schemeClr val="dk1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</a:rPr>
              <a:t>Upgrades the accessibility for users with mobility impairments.</a:t>
            </a:r>
            <a:endParaRPr sz="2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0" y="0"/>
            <a:ext cx="1726800" cy="5143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8" name="Google Shape;208;p28"/>
          <p:cNvSpPr txBox="1"/>
          <p:nvPr>
            <p:ph idx="4294967295" type="title"/>
          </p:nvPr>
        </p:nvSpPr>
        <p:spPr>
          <a:xfrm rot="-5400000">
            <a:off x="-1167600" y="1739250"/>
            <a:ext cx="4000200" cy="16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600">
                <a:solidFill>
                  <a:schemeClr val="lt1"/>
                </a:solidFill>
                <a:latin typeface="Raleway ExtraLight"/>
                <a:ea typeface="Raleway ExtraLight"/>
                <a:cs typeface="Raleway ExtraLight"/>
                <a:sym typeface="Raleway ExtraLight"/>
              </a:rPr>
              <a:t>O</a:t>
            </a:r>
            <a:r>
              <a:rPr b="0" lang="en" sz="4400">
                <a:solidFill>
                  <a:schemeClr val="lt1"/>
                </a:solidFill>
                <a:latin typeface="Raleway ExtraLight"/>
                <a:ea typeface="Raleway ExtraLight"/>
                <a:cs typeface="Raleway ExtraLight"/>
                <a:sym typeface="Raleway ExtraLight"/>
              </a:rPr>
              <a:t>UTCOMES</a:t>
            </a:r>
            <a:endParaRPr b="0">
              <a:solidFill>
                <a:schemeClr val="lt1"/>
              </a:solidFill>
              <a:latin typeface="Raleway ExtraLight"/>
              <a:ea typeface="Raleway ExtraLight"/>
              <a:cs typeface="Raleway ExtraLight"/>
              <a:sym typeface="Raleway ExtraLigh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9"/>
          <p:cNvSpPr txBox="1"/>
          <p:nvPr>
            <p:ph idx="2" type="body"/>
          </p:nvPr>
        </p:nvSpPr>
        <p:spPr>
          <a:xfrm>
            <a:off x="4635500" y="846350"/>
            <a:ext cx="4774800" cy="357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8000"/>
              <a:t>SNIPPET</a:t>
            </a:r>
            <a:endParaRPr b="1" sz="7900"/>
          </a:p>
        </p:txBody>
      </p:sp>
      <p:sp>
        <p:nvSpPr>
          <p:cNvPr id="214" name="Google Shape;214;p29"/>
          <p:cNvSpPr txBox="1"/>
          <p:nvPr>
            <p:ph idx="2" type="body"/>
          </p:nvPr>
        </p:nvSpPr>
        <p:spPr>
          <a:xfrm>
            <a:off x="508925" y="785250"/>
            <a:ext cx="4774800" cy="357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1000">
                <a:solidFill>
                  <a:schemeClr val="dk1"/>
                </a:solidFill>
              </a:rPr>
              <a:t>CODE</a:t>
            </a:r>
            <a:endParaRPr b="1" sz="7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550" y="192725"/>
            <a:ext cx="8839198" cy="4639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5300" y="239350"/>
            <a:ext cx="8839198" cy="4783679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850" y="140725"/>
            <a:ext cx="8839201" cy="4862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33"/>
          <p:cNvPicPr preferRelativeResize="0"/>
          <p:nvPr/>
        </p:nvPicPr>
        <p:blipFill rotWithShape="1">
          <a:blip r:embed="rId3">
            <a:alphaModFix/>
          </a:blip>
          <a:srcRect b="0" l="0" r="0" t="1019"/>
          <a:stretch/>
        </p:blipFill>
        <p:spPr>
          <a:xfrm>
            <a:off x="529000" y="231900"/>
            <a:ext cx="8839198" cy="4728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550" y="162300"/>
            <a:ext cx="8839200" cy="45103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5"/>
          <p:cNvSpPr txBox="1"/>
          <p:nvPr/>
        </p:nvSpPr>
        <p:spPr>
          <a:xfrm>
            <a:off x="621025" y="441950"/>
            <a:ext cx="4600500" cy="8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REFERENCE</a:t>
            </a:r>
            <a:endParaRPr b="1" sz="4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5" name="Google Shape;245;p35"/>
          <p:cNvSpPr txBox="1"/>
          <p:nvPr/>
        </p:nvSpPr>
        <p:spPr>
          <a:xfrm>
            <a:off x="1468750" y="1861175"/>
            <a:ext cx="5505600" cy="26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Font typeface="Lato"/>
              <a:buChar char="●"/>
            </a:pPr>
            <a:r>
              <a:rPr lang="en" sz="2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geeksforgeeks.org</a:t>
            </a:r>
            <a:endParaRPr sz="2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Font typeface="Lato"/>
              <a:buChar char="●"/>
            </a:pPr>
            <a:r>
              <a:rPr lang="en" sz="2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wikipedia.org</a:t>
            </a:r>
            <a:endParaRPr sz="2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Font typeface="Lato"/>
              <a:buChar char="●"/>
            </a:pPr>
            <a:r>
              <a:rPr lang="en" sz="2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pypi.org</a:t>
            </a:r>
            <a:endParaRPr sz="2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Font typeface="Lato"/>
              <a:buChar char="●"/>
            </a:pPr>
            <a:r>
              <a:rPr lang="en" sz="2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docs.python.org</a:t>
            </a:r>
            <a:endParaRPr sz="2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6"/>
          <p:cNvSpPr txBox="1"/>
          <p:nvPr/>
        </p:nvSpPr>
        <p:spPr>
          <a:xfrm>
            <a:off x="4779175" y="1657500"/>
            <a:ext cx="4401300" cy="18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Char char="●"/>
            </a:pPr>
            <a:r>
              <a:rPr lang="en" sz="24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Limited accuracy in recognition</a:t>
            </a:r>
            <a:endParaRPr sz="24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Char char="●"/>
            </a:pPr>
            <a:r>
              <a:rPr lang="en" sz="24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Not suitable for use in improper lighting conditions</a:t>
            </a:r>
            <a:endParaRPr sz="24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1" name="Google Shape;251;p36"/>
          <p:cNvSpPr/>
          <p:nvPr/>
        </p:nvSpPr>
        <p:spPr>
          <a:xfrm>
            <a:off x="0" y="0"/>
            <a:ext cx="4677900" cy="5143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lt1"/>
                </a:solidFill>
                <a:latin typeface="Raleway ExtraLight"/>
                <a:ea typeface="Raleway ExtraLight"/>
                <a:cs typeface="Raleway ExtraLight"/>
                <a:sym typeface="Raleway ExtraLight"/>
              </a:rPr>
              <a:t>D</a:t>
            </a:r>
            <a:r>
              <a:rPr lang="en" sz="4000">
                <a:solidFill>
                  <a:schemeClr val="lt1"/>
                </a:solidFill>
                <a:latin typeface="Raleway ExtraLight"/>
                <a:ea typeface="Raleway ExtraLight"/>
                <a:cs typeface="Raleway ExtraLight"/>
                <a:sym typeface="Raleway ExtraLight"/>
              </a:rPr>
              <a:t>ISADVANTAGES</a:t>
            </a:r>
            <a:endParaRPr sz="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2" name="Google Shape;252;p36"/>
          <p:cNvSpPr txBox="1"/>
          <p:nvPr>
            <p:ph idx="4294967295" type="title"/>
          </p:nvPr>
        </p:nvSpPr>
        <p:spPr>
          <a:xfrm rot="-5400000">
            <a:off x="-674650" y="2497800"/>
            <a:ext cx="5122800" cy="1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solidFill>
                  <a:schemeClr val="lt1"/>
                </a:solidFill>
              </a:rPr>
              <a:t>    </a:t>
            </a:r>
            <a:endParaRPr sz="2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7"/>
          <p:cNvSpPr txBox="1"/>
          <p:nvPr>
            <p:ph idx="2" type="body"/>
          </p:nvPr>
        </p:nvSpPr>
        <p:spPr>
          <a:xfrm>
            <a:off x="4635500" y="846350"/>
            <a:ext cx="4774800" cy="357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1000"/>
              <a:t>Y</a:t>
            </a:r>
            <a:r>
              <a:rPr b="1" lang="en" sz="7500"/>
              <a:t>OU</a:t>
            </a:r>
            <a:r>
              <a:rPr b="1" lang="en" sz="11000"/>
              <a:t> !</a:t>
            </a:r>
            <a:endParaRPr b="1" sz="11000"/>
          </a:p>
        </p:txBody>
      </p:sp>
      <p:sp>
        <p:nvSpPr>
          <p:cNvPr id="258" name="Google Shape;258;p37"/>
          <p:cNvSpPr txBox="1"/>
          <p:nvPr>
            <p:ph idx="2" type="body"/>
          </p:nvPr>
        </p:nvSpPr>
        <p:spPr>
          <a:xfrm>
            <a:off x="508925" y="785250"/>
            <a:ext cx="4774800" cy="357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1000">
                <a:solidFill>
                  <a:schemeClr val="dk1"/>
                </a:solidFill>
              </a:rPr>
              <a:t>T</a:t>
            </a:r>
            <a:r>
              <a:rPr b="1" lang="en" sz="7500">
                <a:solidFill>
                  <a:schemeClr val="dk1"/>
                </a:solidFill>
              </a:rPr>
              <a:t>HANK</a:t>
            </a:r>
            <a:endParaRPr b="1" sz="7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