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437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37E"/>
                </a:solidFill>
              </a:defRPr>
            </a:pPr>
            <a:r>
              <a:t>Free Space Optics (FSO) Communication Link Budget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Overview — FSO Link Budget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Orbital Geometry &amp; Slant Range</a:t>
            </a:r>
          </a:p>
          <a:p>
            <a:pPr>
              <a:spcAft>
                <a:spcPts val="1200"/>
              </a:spcAft>
              <a:defRPr sz="2000"/>
            </a:pPr>
            <a:r>
              <a:t>Transmitter Subsystem (OCT — Optical Communication Terminal)</a:t>
            </a:r>
          </a:p>
          <a:p>
            <a:pPr>
              <a:spcAft>
                <a:spcPts val="1200"/>
              </a:spcAft>
              <a:defRPr sz="2000"/>
            </a:pPr>
            <a:r>
              <a:t>Channel Subsystem (Free Space + Atmosphere)</a:t>
            </a:r>
          </a:p>
          <a:p>
            <a:pPr>
              <a:spcAft>
                <a:spcPts val="1200"/>
              </a:spcAft>
              <a:defRPr sz="2000"/>
            </a:pPr>
            <a:r>
              <a:t>Receiver Subsystem (OGS / OCT)</a:t>
            </a:r>
          </a:p>
          <a:p>
            <a:pPr>
              <a:spcAft>
                <a:spcPts val="1200"/>
              </a:spcAft>
              <a:defRPr sz="2000"/>
            </a:pPr>
            <a:r>
              <a:t>Detection, Noise &amp; Modulation Performance</a:t>
            </a:r>
          </a:p>
          <a:p>
            <a:pPr>
              <a:spcAft>
                <a:spcPts val="1200"/>
              </a:spcAft>
              <a:defRPr sz="2000"/>
            </a:pPr>
            <a:r>
              <a:t>Link Margin &amp; PAT (Pointing, Acquisition, Tracking)</a:t>
            </a:r>
          </a:p>
          <a:p>
            <a:pPr>
              <a:spcAft>
                <a:spcPts val="1200"/>
              </a:spcAft>
              <a:defRPr sz="2000"/>
            </a:pPr>
            <a:r>
              <a:t>RF-to-FSO Conceptual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Orbital Geometry &amp; Slant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Slant range from ground station to satellite as function of elevation angle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Maximum slant range at minimum elevation angle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Orbital period for circular orbit:</a:t>
            </a:r>
          </a:p>
        </p:txBody>
      </p:sp>
      <p:pic>
        <p:nvPicPr>
          <p:cNvPr id="4" name="Picture 3" descr="eq_856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2655"/>
            <a:ext cx="10058400" cy="1388701"/>
          </a:xfrm>
          <a:prstGeom prst="rect">
            <a:avLst/>
          </a:prstGeom>
        </p:spPr>
      </p:pic>
      <p:pic>
        <p:nvPicPr>
          <p:cNvPr id="5" name="Picture 4" descr="eq_82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91356"/>
            <a:ext cx="10058400" cy="1388701"/>
          </a:xfrm>
          <a:prstGeom prst="rect">
            <a:avLst/>
          </a:prstGeom>
        </p:spPr>
      </p:pic>
      <p:pic>
        <p:nvPicPr>
          <p:cNvPr id="6" name="Picture 5" descr="eq_642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199" y="4180057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Transmitter Subsystem (OCT)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Transmit Telescope Gain (circular aperture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Beam Divergence — Gaussian beam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Beam Divergence — Uniformly illuminated (Airy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Optical EIRP:</a:t>
            </a:r>
          </a:p>
        </p:txBody>
      </p:sp>
      <p:pic>
        <p:nvPicPr>
          <p:cNvPr id="4" name="Picture 3" descr="eq_91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058400" cy="1388701"/>
          </a:xfrm>
          <a:prstGeom prst="rect">
            <a:avLst/>
          </a:prstGeom>
        </p:spPr>
      </p:pic>
      <p:pic>
        <p:nvPicPr>
          <p:cNvPr id="5" name="Picture 4" descr="eq_152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06030"/>
            <a:ext cx="10058400" cy="1388701"/>
          </a:xfrm>
          <a:prstGeom prst="rect">
            <a:avLst/>
          </a:prstGeom>
        </p:spPr>
      </p:pic>
      <p:pic>
        <p:nvPicPr>
          <p:cNvPr id="6" name="Picture 5" descr="eq_928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23341"/>
            <a:ext cx="10058400" cy="1388701"/>
          </a:xfrm>
          <a:prstGeom prst="rect">
            <a:avLst/>
          </a:prstGeom>
        </p:spPr>
      </p:pic>
      <p:pic>
        <p:nvPicPr>
          <p:cNvPr id="7" name="Picture 6" descr="eq_3625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48377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Channel Subsystem — Path Loss &amp; Atmosphere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Free-Space Path Loss (</a:t>
            </a:r>
            <a:r>
              <a:rPr dirty="0" err="1"/>
              <a:t>Friis</a:t>
            </a:r>
            <a:r>
              <a:rPr dirty="0"/>
              <a:t> formula for optics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Atmospheric Extinction (Beer-Lambert Law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Total extinction coefficient:</a:t>
            </a:r>
          </a:p>
        </p:txBody>
      </p:sp>
      <p:pic>
        <p:nvPicPr>
          <p:cNvPr id="4" name="Picture 3" descr="eq_176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17329"/>
            <a:ext cx="10058400" cy="1388701"/>
          </a:xfrm>
          <a:prstGeom prst="rect">
            <a:avLst/>
          </a:prstGeom>
        </p:spPr>
      </p:pic>
      <p:pic>
        <p:nvPicPr>
          <p:cNvPr id="5" name="Picture 4" descr="eq_855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06030"/>
            <a:ext cx="10058400" cy="1388701"/>
          </a:xfrm>
          <a:prstGeom prst="rect">
            <a:avLst/>
          </a:prstGeom>
        </p:spPr>
      </p:pic>
      <p:pic>
        <p:nvPicPr>
          <p:cNvPr id="6" name="Picture 5" descr="eq_737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35305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Channel Subsystem — Pointing &amp; Scintillation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Geometric Collection Loss (receive aperture &lt; beam spot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Pointing Loss (Gaussian beam approximation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 err="1"/>
              <a:t>Rytov</a:t>
            </a:r>
            <a:r>
              <a:rPr dirty="0"/>
              <a:t> Variance (spherical wave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Fade Margin (log-normal):</a:t>
            </a:r>
          </a:p>
        </p:txBody>
      </p:sp>
      <p:pic>
        <p:nvPicPr>
          <p:cNvPr id="4" name="Picture 3" descr="eq_539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87128"/>
            <a:ext cx="10058400" cy="1388701"/>
          </a:xfrm>
          <a:prstGeom prst="rect">
            <a:avLst/>
          </a:prstGeom>
        </p:spPr>
      </p:pic>
      <p:pic>
        <p:nvPicPr>
          <p:cNvPr id="5" name="Picture 4" descr="eq_806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77421"/>
            <a:ext cx="10058400" cy="1388701"/>
          </a:xfrm>
          <a:prstGeom prst="rect">
            <a:avLst/>
          </a:prstGeom>
        </p:spPr>
      </p:pic>
      <p:pic>
        <p:nvPicPr>
          <p:cNvPr id="6" name="Picture 5" descr="eq_5718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52557"/>
            <a:ext cx="10058400" cy="1388701"/>
          </a:xfrm>
          <a:prstGeom prst="rect">
            <a:avLst/>
          </a:prstGeom>
        </p:spPr>
      </p:pic>
      <p:pic>
        <p:nvPicPr>
          <p:cNvPr id="7" name="Picture 6" descr="eq_854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046301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Receiver Subsystem (OGS / OCT)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Receive Telescope Gain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Effective Collection Area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Background Optical Power:</a:t>
            </a:r>
          </a:p>
        </p:txBody>
      </p:sp>
      <p:pic>
        <p:nvPicPr>
          <p:cNvPr id="4" name="Picture 3" descr="eq_566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058400" cy="1388701"/>
          </a:xfrm>
          <a:prstGeom prst="rect">
            <a:avLst/>
          </a:prstGeom>
        </p:spPr>
      </p:pic>
      <p:pic>
        <p:nvPicPr>
          <p:cNvPr id="5" name="Picture 4" descr="eq_758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77421"/>
            <a:ext cx="10058400" cy="1388701"/>
          </a:xfrm>
          <a:prstGeom prst="rect">
            <a:avLst/>
          </a:prstGeom>
        </p:spPr>
      </p:pic>
      <p:pic>
        <p:nvPicPr>
          <p:cNvPr id="6" name="Picture 5" descr="eq_511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59591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Complete Received Power Equation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General link equation (linear product form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Logarithmic (dB) form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Gaussian beam formulation (alternative):</a:t>
            </a:r>
          </a:p>
        </p:txBody>
      </p:sp>
      <p:pic>
        <p:nvPicPr>
          <p:cNvPr id="4" name="Picture 3" descr="eq_1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058400" cy="1388701"/>
          </a:xfrm>
          <a:prstGeom prst="rect">
            <a:avLst/>
          </a:prstGeom>
        </p:spPr>
      </p:pic>
      <p:pic>
        <p:nvPicPr>
          <p:cNvPr id="5" name="Picture 4" descr="eq_477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037" y="2694072"/>
            <a:ext cx="10058400" cy="1388701"/>
          </a:xfrm>
          <a:prstGeom prst="rect">
            <a:avLst/>
          </a:prstGeom>
        </p:spPr>
      </p:pic>
      <p:pic>
        <p:nvPicPr>
          <p:cNvPr id="6" name="Picture 5" descr="eq_446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82773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Detection &amp; Noise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Detector </a:t>
            </a:r>
            <a:r>
              <a:rPr dirty="0" err="1"/>
              <a:t>Responsivity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Signal Photocurrent (APD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Total Noise Variance — PIN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Total Noise Variance — APD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APD Excess Noise Factor:</a:t>
            </a:r>
          </a:p>
        </p:txBody>
      </p:sp>
      <p:pic>
        <p:nvPicPr>
          <p:cNvPr id="4" name="Picture 3" descr="eq_39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05840"/>
            <a:ext cx="10058400" cy="1388701"/>
          </a:xfrm>
          <a:prstGeom prst="rect">
            <a:avLst/>
          </a:prstGeom>
        </p:spPr>
      </p:pic>
      <p:pic>
        <p:nvPicPr>
          <p:cNvPr id="5" name="Picture 4" descr="eq_102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10058400" cy="1388701"/>
          </a:xfrm>
          <a:prstGeom prst="rect">
            <a:avLst/>
          </a:prstGeom>
        </p:spPr>
      </p:pic>
      <p:pic>
        <p:nvPicPr>
          <p:cNvPr id="6" name="Picture 5" descr="eq_709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834640"/>
            <a:ext cx="10058400" cy="1388701"/>
          </a:xfrm>
          <a:prstGeom prst="rect">
            <a:avLst/>
          </a:prstGeom>
        </p:spPr>
      </p:pic>
      <p:pic>
        <p:nvPicPr>
          <p:cNvPr id="7" name="Picture 6" descr="eq_723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93447"/>
            <a:ext cx="10058400" cy="1388701"/>
          </a:xfrm>
          <a:prstGeom prst="rect">
            <a:avLst/>
          </a:prstGeom>
        </p:spPr>
      </p:pic>
      <p:pic>
        <p:nvPicPr>
          <p:cNvPr id="8" name="Picture 7" descr="eq_315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93438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SNR &amp; Modulation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Direct Detection OOK SNR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PPM SNR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Photons per Bit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Required Received Power:</a:t>
            </a:r>
          </a:p>
        </p:txBody>
      </p:sp>
      <p:pic>
        <p:nvPicPr>
          <p:cNvPr id="4" name="Picture 3" descr="eq_385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058400" cy="1388701"/>
          </a:xfrm>
          <a:prstGeom prst="rect">
            <a:avLst/>
          </a:prstGeom>
        </p:spPr>
      </p:pic>
      <p:pic>
        <p:nvPicPr>
          <p:cNvPr id="5" name="Picture 4" descr="eq_918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63" y="2706030"/>
            <a:ext cx="10058400" cy="1388701"/>
          </a:xfrm>
          <a:prstGeom prst="rect">
            <a:avLst/>
          </a:prstGeom>
        </p:spPr>
      </p:pic>
      <p:pic>
        <p:nvPicPr>
          <p:cNvPr id="6" name="Picture 5" descr="eq_827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6929"/>
            <a:ext cx="10058400" cy="1388701"/>
          </a:xfrm>
          <a:prstGeom prst="rect">
            <a:avLst/>
          </a:prstGeom>
        </p:spPr>
      </p:pic>
      <p:pic>
        <p:nvPicPr>
          <p:cNvPr id="7" name="Picture 6" descr="eq_482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65630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Link Margin &amp; PAT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dirty="0"/>
              <a:t>Link Margin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Total Pointing Error (RSS composition</a:t>
            </a:r>
            <a:r>
              <a:rPr dirty="0" smtClean="0"/>
              <a:t>):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Acquisition Probability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  <a:p>
            <a:pPr>
              <a:spcAft>
                <a:spcPts val="1200"/>
              </a:spcAft>
              <a:defRPr sz="2000"/>
            </a:pPr>
            <a:r>
              <a:rPr dirty="0"/>
              <a:t>PAT-Induced Link Loss</a:t>
            </a:r>
            <a:r>
              <a:rPr dirty="0" smtClean="0"/>
              <a:t>:</a:t>
            </a:r>
            <a:endParaRPr lang="en-IN" dirty="0" smtClean="0"/>
          </a:p>
          <a:p>
            <a:pPr>
              <a:spcAft>
                <a:spcPts val="1200"/>
              </a:spcAft>
              <a:defRPr sz="2000"/>
            </a:pPr>
            <a:endParaRPr dirty="0"/>
          </a:p>
        </p:txBody>
      </p:sp>
      <p:pic>
        <p:nvPicPr>
          <p:cNvPr id="4" name="Picture 3" descr="eq_404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5938"/>
            <a:ext cx="10058400" cy="1388701"/>
          </a:xfrm>
          <a:prstGeom prst="rect">
            <a:avLst/>
          </a:prstGeom>
        </p:spPr>
      </p:pic>
      <p:pic>
        <p:nvPicPr>
          <p:cNvPr id="5" name="Picture 4" descr="eq_862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03" y="2577421"/>
            <a:ext cx="10058400" cy="1388701"/>
          </a:xfrm>
          <a:prstGeom prst="rect">
            <a:avLst/>
          </a:prstGeom>
        </p:spPr>
      </p:pic>
      <p:pic>
        <p:nvPicPr>
          <p:cNvPr id="6" name="Picture 5" descr="eq_187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03" y="3816630"/>
            <a:ext cx="10058400" cy="1388701"/>
          </a:xfrm>
          <a:prstGeom prst="rect">
            <a:avLst/>
          </a:prstGeom>
        </p:spPr>
      </p:pic>
      <p:pic>
        <p:nvPicPr>
          <p:cNvPr id="7" name="Picture 6" descr="eq_299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796" y="5205331"/>
            <a:ext cx="10058400" cy="13887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RF-to-FSO Conceptual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Antenna Gain  -&gt;  Telescope Gain:  G = eta(pi D/lambda)^2</a:t>
            </a:r>
          </a:p>
          <a:p>
            <a:pPr>
              <a:spcAft>
                <a:spcPts val="1200"/>
              </a:spcAft>
              <a:defRPr sz="2000"/>
            </a:pPr>
            <a:r>
              <a:t>Path Loss  -&gt;  Free Space Loss:  Lfs = (4pi z/lambda)^2</a:t>
            </a:r>
          </a:p>
          <a:p>
            <a:pPr>
              <a:spcAft>
                <a:spcPts val="1200"/>
              </a:spcAft>
              <a:defRPr sz="2000"/>
            </a:pPr>
            <a:r>
              <a:t>EIRP  -&gt;  Optical EIRP:  Pt Gt eta_tx</a:t>
            </a:r>
          </a:p>
          <a:p>
            <a:pPr>
              <a:spcAft>
                <a:spcPts val="1200"/>
              </a:spcAft>
              <a:defRPr sz="2000"/>
            </a:pPr>
            <a:r>
              <a:t>G/T  -&gt;  Receiver Sensitivity (NEP or P_req)</a:t>
            </a:r>
          </a:p>
          <a:p>
            <a:pPr>
              <a:spcAft>
                <a:spcPts val="1200"/>
              </a:spcAft>
              <a:defRPr sz="2000"/>
            </a:pPr>
            <a:r>
              <a:t>Noise Power (kTB)  -&gt;  Shot + Thermal Noise (sigma_n^2)</a:t>
            </a:r>
          </a:p>
          <a:p>
            <a:pPr>
              <a:spcAft>
                <a:spcPts val="1200"/>
              </a:spcAft>
              <a:defRPr sz="2000"/>
            </a:pPr>
            <a:r>
              <a:t>S/N  -&gt;  Optical SNR:  (RP_r)^2 / sigma_n^2</a:t>
            </a:r>
          </a:p>
          <a:p>
            <a:pPr>
              <a:spcAft>
                <a:spcPts val="1200"/>
              </a:spcAft>
              <a:defRPr sz="2000"/>
            </a:pPr>
            <a:r>
              <a:t>Rain Fade Tables  -&gt;  Atmospheric Extinction:  T_atm = exp(-alpha z)</a:t>
            </a:r>
          </a:p>
          <a:p>
            <a:pPr>
              <a:spcAft>
                <a:spcPts val="1200"/>
              </a:spcAft>
              <a:defRPr sz="2000"/>
            </a:pPr>
            <a:r>
              <a:t>Pointing Loss (~1.5 dB)  -&gt;  Gaussian Pointing Loss:  -8.686(theta_p/theta_div)^2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237E"/>
                </a:solidFill>
              </a:defRPr>
            </a:pPr>
            <a:r>
              <a:t>Essential Design Equations (Spreadsheet Ready)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Slant Range:  z(epsilon) = sqrt((R_E+H)^2 - (R_E cos epsilon)^2) - R_E sin epsilon</a:t>
            </a:r>
          </a:p>
          <a:p>
            <a:pPr>
              <a:spcAft>
                <a:spcPts val="1200"/>
              </a:spcAft>
              <a:defRPr sz="2000"/>
            </a:pPr>
            <a:r>
              <a:t>2. Transmit Gain:  G_t = eta_t (pi D_t / lambda)^2</a:t>
            </a:r>
          </a:p>
          <a:p>
            <a:pPr>
              <a:spcAft>
                <a:spcPts val="1200"/>
              </a:spcAft>
              <a:defRPr sz="2000"/>
            </a:pPr>
            <a:r>
              <a:t>3. Receive Gain:  G_r = eta_r (pi D_r / lambda)^2</a:t>
            </a:r>
          </a:p>
          <a:p>
            <a:pPr>
              <a:spcAft>
                <a:spcPts val="1200"/>
              </a:spcAft>
              <a:defRPr sz="2000"/>
            </a:pPr>
            <a:r>
              <a:t>4. Free Space Loss:  L_fs = (4pi z / lambda)^2</a:t>
            </a:r>
          </a:p>
          <a:p>
            <a:pPr>
              <a:spcAft>
                <a:spcPts val="1200"/>
              </a:spcAft>
              <a:defRPr sz="2000"/>
            </a:pPr>
            <a:r>
              <a:t>5. Atmospheric Loss:  T_atm = exp(-alpha z_atm)</a:t>
            </a:r>
          </a:p>
          <a:p>
            <a:pPr>
              <a:spcAft>
                <a:spcPts val="1200"/>
              </a:spcAft>
              <a:defRPr sz="2000"/>
            </a:pPr>
            <a:r>
              <a:t>6. Pointing Loss:  L_point = exp(-2 theta_p^2 / theta_div^2)</a:t>
            </a:r>
          </a:p>
          <a:p>
            <a:pPr>
              <a:spcAft>
                <a:spcPts val="1200"/>
              </a:spcAft>
              <a:defRPr sz="2000"/>
            </a:pPr>
            <a:r>
              <a:t>7. Received Power:  P_r = P_t G_t G_r L_fs T_atm L_point eta_opt</a:t>
            </a:r>
          </a:p>
          <a:p>
            <a:pPr>
              <a:spcAft>
                <a:spcPts val="1200"/>
              </a:spcAft>
              <a:defRPr sz="2000"/>
            </a:pPr>
            <a:r>
              <a:t>8. Noise Variance:  sigma_n^2 = 2qR(P_r+P_b)B + 2q I_d B + 4k_B T B / R_L</a:t>
            </a:r>
          </a:p>
          <a:p>
            <a:pPr>
              <a:spcAft>
                <a:spcPts val="1200"/>
              </a:spcAft>
              <a:defRPr sz="2000"/>
            </a:pPr>
            <a:r>
              <a:t>9. SNR:  SNR = (RP_r)^2 / sigma_n^2</a:t>
            </a:r>
          </a:p>
          <a:p>
            <a:pPr>
              <a:spcAft>
                <a:spcPts val="1200"/>
              </a:spcAft>
              <a:defRPr sz="2000"/>
            </a:pPr>
            <a:r>
              <a:t>10. Margin:  Margin = P_r - P_req - M_impl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37E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557</Words>
  <Application>Microsoft Office PowerPoint</Application>
  <PresentationFormat>Custom</PresentationFormat>
  <Paragraphs>116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kavin</cp:lastModifiedBy>
  <cp:revision>5</cp:revision>
  <dcterms:created xsi:type="dcterms:W3CDTF">2013-01-27T09:14:16Z</dcterms:created>
  <dcterms:modified xsi:type="dcterms:W3CDTF">2026-06-06T17:37:32Z</dcterms:modified>
  <cp:category/>
</cp:coreProperties>
</file>