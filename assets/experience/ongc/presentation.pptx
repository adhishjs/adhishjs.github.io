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Nunito"/>
      <p:regular r:id="rId20"/>
      <p:bold r:id="rId21"/>
      <p:italic r:id="rId22"/>
      <p:boldItalic r:id="rId23"/>
    </p:embeddedFont>
    <p:embeddedFont>
      <p:font typeface="Maven Pro"/>
      <p:regular r:id="rId24"/>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MavenPro-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MavenPro-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03c546105f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03c546105f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03c546105f_0_15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03c546105f_0_15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03c546105f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03c546105f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03c76cf8c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03c76cf8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03c546105f_0_1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03c546105f_0_1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03c76cf8c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03c76cf8c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3c546105f_0_1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3c546105f_0_1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03c76cf8c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03c76cf8c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03c546105f_0_15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03c546105f_0_15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03c546105f_0_1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03c546105f_0_1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03c76cf8c9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03c76cf8c9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3c546105f_0_1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3c546105f_0_1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03c546105f_0_15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03c546105f_0_15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0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1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9.jp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community.cambiumnetworks.com/t/access-point-subscriber-bhm-definition/90612" TargetMode="External"/><Relationship Id="rId4" Type="http://schemas.openxmlformats.org/officeDocument/2006/relationships/hyperlink" Target="https://community.cambiumnetworks.com/t/access-point-subscriber-bhm-definition/9061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hyperlink" Target="https://www.geeksforgeeks.org/overview-of-personal-area-network-pan/" TargetMode="External"/><Relationship Id="rId5" Type="http://schemas.openxmlformats.org/officeDocument/2006/relationships/hyperlink" Target="https://www.geeksforgeeks.org/lan-full-form/" TargetMode="External"/><Relationship Id="rId6" Type="http://schemas.openxmlformats.org/officeDocument/2006/relationships/hyperlink" Target="https://www.geeksforgeeks.org/man-full-form-in-computer-networking/" TargetMode="External"/><Relationship Id="rId7" Type="http://schemas.openxmlformats.org/officeDocument/2006/relationships/hyperlink" Target="https://www.geeksforgeeks.org/wan-full-for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hyperlink" Target="https://www.geeksforgeeks.org/what-is-an-ip-address/" TargetMode="External"/><Relationship Id="rId4" Type="http://schemas.openxmlformats.org/officeDocument/2006/relationships/hyperlink" Target="https://www.geeksforgeeks.org/what-is-ipv4/" TargetMode="External"/><Relationship Id="rId5"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25"/>
            <a:ext cx="49656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Telecommunication</a:t>
            </a:r>
            <a:endParaRPr/>
          </a:p>
        </p:txBody>
      </p:sp>
      <p:sp>
        <p:nvSpPr>
          <p:cNvPr id="278" name="Google Shape;278;p13"/>
          <p:cNvSpPr txBox="1"/>
          <p:nvPr>
            <p:ph idx="1" type="subTitle"/>
          </p:nvPr>
        </p:nvSpPr>
        <p:spPr>
          <a:xfrm>
            <a:off x="824000" y="307105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By </a:t>
            </a:r>
            <a:r>
              <a:rPr b="1" lang="en" sz="1900"/>
              <a:t>Adhish JS</a:t>
            </a:r>
            <a:r>
              <a:rPr lang="en"/>
              <a:t> </a:t>
            </a:r>
            <a:r>
              <a:rPr i="1" lang="en"/>
              <a:t>(EC23B1003)</a:t>
            </a:r>
            <a:endParaRPr i="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Internship Objectives</a:t>
            </a:r>
            <a:endParaRPr/>
          </a:p>
        </p:txBody>
      </p:sp>
      <p:sp>
        <p:nvSpPr>
          <p:cNvPr id="284" name="Google Shape;284;p14"/>
          <p:cNvSpPr txBox="1"/>
          <p:nvPr>
            <p:ph idx="1" type="body"/>
          </p:nvPr>
        </p:nvSpPr>
        <p:spPr>
          <a:xfrm>
            <a:off x="1303800" y="1331950"/>
            <a:ext cx="7030500" cy="2804700"/>
          </a:xfrm>
          <a:prstGeom prst="rect">
            <a:avLst/>
          </a:prstGeom>
        </p:spPr>
        <p:txBody>
          <a:bodyPr anchorCtr="0" anchor="t" bIns="91425" lIns="91425" spcFirstLastPara="1" rIns="91425" wrap="square" tIns="91425">
            <a:normAutofit/>
          </a:bodyPr>
          <a:lstStyle/>
          <a:p>
            <a:pPr indent="-317500" lvl="0" marL="457200" rtl="0" algn="l">
              <a:lnSpc>
                <a:spcPct val="150000"/>
              </a:lnSpc>
              <a:spcBef>
                <a:spcPts val="0"/>
              </a:spcBef>
              <a:spcAft>
                <a:spcPts val="0"/>
              </a:spcAft>
              <a:buSzPts val="1400"/>
              <a:buAutoNum type="arabicPeriod"/>
            </a:pPr>
            <a:r>
              <a:rPr lang="en" sz="1400"/>
              <a:t>Introduction</a:t>
            </a:r>
            <a:endParaRPr sz="1400"/>
          </a:p>
          <a:p>
            <a:pPr indent="-317500" lvl="0" marL="457200" rtl="0" algn="l">
              <a:lnSpc>
                <a:spcPct val="150000"/>
              </a:lnSpc>
              <a:spcBef>
                <a:spcPts val="0"/>
              </a:spcBef>
              <a:spcAft>
                <a:spcPts val="0"/>
              </a:spcAft>
              <a:buSzPts val="1400"/>
              <a:buAutoNum type="arabicPeriod"/>
            </a:pPr>
            <a:r>
              <a:rPr lang="en" sz="1400"/>
              <a:t>VSAT Communication</a:t>
            </a:r>
            <a:endParaRPr sz="1400"/>
          </a:p>
          <a:p>
            <a:pPr indent="-317500" lvl="0" marL="457200" rtl="0" algn="l">
              <a:lnSpc>
                <a:spcPct val="150000"/>
              </a:lnSpc>
              <a:spcBef>
                <a:spcPts val="0"/>
              </a:spcBef>
              <a:spcAft>
                <a:spcPts val="0"/>
              </a:spcAft>
              <a:buSzPts val="1400"/>
              <a:buAutoNum type="arabicPeriod"/>
            </a:pPr>
            <a:r>
              <a:rPr lang="en" sz="1400"/>
              <a:t>GSM</a:t>
            </a:r>
            <a:endParaRPr sz="1400"/>
          </a:p>
          <a:p>
            <a:pPr indent="-317500" lvl="0" marL="457200" rtl="0" algn="l">
              <a:lnSpc>
                <a:spcPct val="150000"/>
              </a:lnSpc>
              <a:spcBef>
                <a:spcPts val="0"/>
              </a:spcBef>
              <a:spcAft>
                <a:spcPts val="0"/>
              </a:spcAft>
              <a:buSzPts val="1400"/>
              <a:buAutoNum type="arabicPeriod"/>
            </a:pPr>
            <a:r>
              <a:rPr lang="en" sz="1400"/>
              <a:t>Radio</a:t>
            </a:r>
            <a:r>
              <a:rPr lang="en" sz="1400"/>
              <a:t> Communication </a:t>
            </a:r>
            <a:endParaRPr sz="1400"/>
          </a:p>
          <a:p>
            <a:pPr indent="-317500" lvl="0" marL="457200" rtl="0" algn="l">
              <a:lnSpc>
                <a:spcPct val="150000"/>
              </a:lnSpc>
              <a:spcBef>
                <a:spcPts val="0"/>
              </a:spcBef>
              <a:spcAft>
                <a:spcPts val="0"/>
              </a:spcAft>
              <a:buSzPts val="1400"/>
              <a:buAutoNum type="arabicPeriod"/>
            </a:pPr>
            <a:r>
              <a:rPr lang="en" sz="1400"/>
              <a:t>Exchange </a:t>
            </a:r>
            <a:endParaRPr sz="1400"/>
          </a:p>
          <a:p>
            <a:pPr indent="-317500" lvl="0" marL="457200" rtl="0" algn="l">
              <a:lnSpc>
                <a:spcPct val="150000"/>
              </a:lnSpc>
              <a:spcBef>
                <a:spcPts val="0"/>
              </a:spcBef>
              <a:spcAft>
                <a:spcPts val="0"/>
              </a:spcAft>
              <a:buSzPts val="1400"/>
              <a:buAutoNum type="arabicPeriod"/>
            </a:pPr>
            <a:r>
              <a:rPr lang="en" sz="1400"/>
              <a:t>Network</a:t>
            </a:r>
            <a:endParaRPr sz="1400"/>
          </a:p>
          <a:p>
            <a:pPr indent="-317500" lvl="0" marL="457200" rtl="0" algn="l">
              <a:lnSpc>
                <a:spcPct val="150000"/>
              </a:lnSpc>
              <a:spcBef>
                <a:spcPts val="0"/>
              </a:spcBef>
              <a:spcAft>
                <a:spcPts val="0"/>
              </a:spcAft>
              <a:buSzPts val="1400"/>
              <a:buAutoNum type="arabicPeriod"/>
            </a:pPr>
            <a:r>
              <a:rPr lang="en" sz="1400"/>
              <a:t>Scada</a:t>
            </a:r>
            <a:endParaRPr sz="1400"/>
          </a:p>
          <a:p>
            <a:pPr indent="-317500" lvl="0" marL="457200" rtl="0" algn="l">
              <a:lnSpc>
                <a:spcPct val="150000"/>
              </a:lnSpc>
              <a:spcBef>
                <a:spcPts val="0"/>
              </a:spcBef>
              <a:spcAft>
                <a:spcPts val="0"/>
              </a:spcAft>
              <a:buSzPts val="1400"/>
              <a:buAutoNum type="arabicPeriod"/>
            </a:pPr>
            <a:r>
              <a:rPr lang="en" sz="1400"/>
              <a:t>Conclusion</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777175"/>
            <a:ext cx="7030500" cy="9993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t>Introduction</a:t>
            </a:r>
            <a:endParaRPr/>
          </a:p>
        </p:txBody>
      </p:sp>
      <p:sp>
        <p:nvSpPr>
          <p:cNvPr id="290" name="Google Shape;290;p15"/>
          <p:cNvSpPr txBox="1"/>
          <p:nvPr>
            <p:ph idx="1" type="body"/>
          </p:nvPr>
        </p:nvSpPr>
        <p:spPr>
          <a:xfrm>
            <a:off x="1303800" y="1870975"/>
            <a:ext cx="7030500" cy="2469000"/>
          </a:xfrm>
          <a:prstGeom prst="rect">
            <a:avLst/>
          </a:prstGeom>
        </p:spPr>
        <p:txBody>
          <a:bodyPr anchorCtr="0" anchor="t" bIns="91425" lIns="91425" spcFirstLastPara="1" rIns="91425" wrap="square" tIns="91425">
            <a:normAutofit/>
          </a:bodyPr>
          <a:lstStyle/>
          <a:p>
            <a:pPr indent="0" lvl="0" marL="0" rtl="0" algn="l">
              <a:lnSpc>
                <a:spcPct val="150000"/>
              </a:lnSpc>
              <a:spcBef>
                <a:spcPts val="1200"/>
              </a:spcBef>
              <a:spcAft>
                <a:spcPts val="0"/>
              </a:spcAft>
              <a:buNone/>
            </a:pPr>
            <a:r>
              <a:rPr lang="en">
                <a:solidFill>
                  <a:srgbClr val="000000"/>
                </a:solidFill>
                <a:latin typeface="Arial"/>
                <a:ea typeface="Arial"/>
                <a:cs typeface="Arial"/>
                <a:sym typeface="Arial"/>
              </a:rPr>
              <a:t>The internship at </a:t>
            </a:r>
            <a:r>
              <a:rPr b="1" lang="en">
                <a:solidFill>
                  <a:srgbClr val="000000"/>
                </a:solidFill>
                <a:latin typeface="Arial"/>
                <a:ea typeface="Arial"/>
                <a:cs typeface="Arial"/>
                <a:sym typeface="Arial"/>
              </a:rPr>
              <a:t>ONGC, Cauvery Asset</a:t>
            </a:r>
            <a:r>
              <a:rPr lang="en">
                <a:solidFill>
                  <a:srgbClr val="000000"/>
                </a:solidFill>
                <a:latin typeface="Arial"/>
                <a:ea typeface="Arial"/>
                <a:cs typeface="Arial"/>
                <a:sym typeface="Arial"/>
              </a:rPr>
              <a:t> provided practical exposure to communication technologies such as </a:t>
            </a:r>
            <a:r>
              <a:rPr b="1" lang="en">
                <a:solidFill>
                  <a:srgbClr val="000000"/>
                </a:solidFill>
                <a:latin typeface="Arial"/>
                <a:ea typeface="Arial"/>
                <a:cs typeface="Arial"/>
                <a:sym typeface="Arial"/>
              </a:rPr>
              <a:t>VSAT</a:t>
            </a:r>
            <a:r>
              <a:rPr lang="en">
                <a:solidFill>
                  <a:srgbClr val="000000"/>
                </a:solidFill>
                <a:latin typeface="Arial"/>
                <a:ea typeface="Arial"/>
                <a:cs typeface="Arial"/>
                <a:sym typeface="Arial"/>
              </a:rPr>
              <a:t>, </a:t>
            </a:r>
            <a:r>
              <a:rPr b="1" lang="en">
                <a:solidFill>
                  <a:srgbClr val="000000"/>
                </a:solidFill>
                <a:latin typeface="Arial"/>
                <a:ea typeface="Arial"/>
                <a:cs typeface="Arial"/>
                <a:sym typeface="Arial"/>
              </a:rPr>
              <a:t>GSM</a:t>
            </a:r>
            <a:r>
              <a:rPr lang="en">
                <a:solidFill>
                  <a:srgbClr val="000000"/>
                </a:solidFill>
                <a:latin typeface="Arial"/>
                <a:ea typeface="Arial"/>
                <a:cs typeface="Arial"/>
                <a:sym typeface="Arial"/>
              </a:rPr>
              <a:t>, and </a:t>
            </a:r>
            <a:r>
              <a:rPr b="1" lang="en">
                <a:solidFill>
                  <a:srgbClr val="000000"/>
                </a:solidFill>
                <a:latin typeface="Arial"/>
                <a:ea typeface="Arial"/>
                <a:cs typeface="Arial"/>
                <a:sym typeface="Arial"/>
              </a:rPr>
              <a:t>SCADA</a:t>
            </a:r>
            <a:r>
              <a:rPr lang="en">
                <a:solidFill>
                  <a:srgbClr val="000000"/>
                </a:solidFill>
                <a:latin typeface="Arial"/>
                <a:ea typeface="Arial"/>
                <a:cs typeface="Arial"/>
                <a:sym typeface="Arial"/>
              </a:rPr>
              <a:t> systems. This experience bridged the gap between theoretical knowledge and real-world applications in the oil and gas industry, enhancing skills in monitoring and control technologies essential for industrial processes.</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VSAT (Very Small Aperture Terminal)</a:t>
            </a:r>
            <a:endParaRPr/>
          </a:p>
        </p:txBody>
      </p:sp>
      <p:sp>
        <p:nvSpPr>
          <p:cNvPr id="296" name="Google Shape;296;p16"/>
          <p:cNvSpPr txBox="1"/>
          <p:nvPr>
            <p:ph idx="1" type="body"/>
          </p:nvPr>
        </p:nvSpPr>
        <p:spPr>
          <a:xfrm>
            <a:off x="1303800" y="1226950"/>
            <a:ext cx="7030500" cy="168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1980,Pradman Kaul, president of Hughes, created the two-way Ku-band VSAT. </a:t>
            </a:r>
            <a:endParaRPr/>
          </a:p>
          <a:p>
            <a:pPr indent="0" lvl="0" marL="0" rtl="0" algn="l">
              <a:spcBef>
                <a:spcPts val="1200"/>
              </a:spcBef>
              <a:spcAft>
                <a:spcPts val="0"/>
              </a:spcAft>
              <a:buNone/>
            </a:pPr>
            <a:r>
              <a:rPr lang="en"/>
              <a:t>VSAT communication used to transmit/receive data, voice and video signals over a satellite communication network.</a:t>
            </a:r>
            <a:endParaRPr/>
          </a:p>
          <a:p>
            <a:pPr indent="0" lvl="0" marL="0" rtl="0" algn="l">
              <a:spcBef>
                <a:spcPts val="1200"/>
              </a:spcBef>
              <a:spcAft>
                <a:spcPts val="1200"/>
              </a:spcAft>
              <a:buNone/>
            </a:pPr>
            <a:r>
              <a:rPr lang="en"/>
              <a:t>VSAT systems can operate using various industry frequencies such as C-Band, Ku-Band, KaBand and X-Band. ONGC uses C-Band with 4 GHz for downlink and 6 GHz for uplink.</a:t>
            </a:r>
            <a:endParaRPr/>
          </a:p>
        </p:txBody>
      </p:sp>
      <p:pic>
        <p:nvPicPr>
          <p:cNvPr id="297" name="Google Shape;297;p16"/>
          <p:cNvPicPr preferRelativeResize="0"/>
          <p:nvPr/>
        </p:nvPicPr>
        <p:blipFill rotWithShape="1">
          <a:blip r:embed="rId3">
            <a:alphaModFix/>
          </a:blip>
          <a:srcRect b="-3420" l="-630" r="630" t="3420"/>
          <a:stretch/>
        </p:blipFill>
        <p:spPr>
          <a:xfrm>
            <a:off x="583863" y="2907838"/>
            <a:ext cx="7877175" cy="2028825"/>
          </a:xfrm>
          <a:prstGeom prst="rect">
            <a:avLst/>
          </a:prstGeom>
          <a:noFill/>
          <a:ln cap="flat" cmpd="sng" w="12700">
            <a:solidFill>
              <a:srgbClr val="FFFFFF"/>
            </a:solidFill>
            <a:prstDash val="solid"/>
            <a:miter lim="8000"/>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p17"/>
          <p:cNvPicPr preferRelativeResize="0"/>
          <p:nvPr/>
        </p:nvPicPr>
        <p:blipFill>
          <a:blip r:embed="rId3">
            <a:alphaModFix/>
          </a:blip>
          <a:stretch>
            <a:fillRect/>
          </a:stretch>
        </p:blipFill>
        <p:spPr>
          <a:xfrm>
            <a:off x="3976075" y="65575"/>
            <a:ext cx="5108474" cy="3135500"/>
          </a:xfrm>
          <a:prstGeom prst="rect">
            <a:avLst/>
          </a:prstGeom>
          <a:noFill/>
          <a:ln cap="flat" cmpd="sng" w="12700">
            <a:solidFill>
              <a:srgbClr val="FFFFFF"/>
            </a:solidFill>
            <a:prstDash val="solid"/>
            <a:miter lim="8000"/>
            <a:headEnd len="sm" w="sm" type="none"/>
            <a:tailEnd len="sm" w="sm" type="none"/>
          </a:ln>
        </p:spPr>
      </p:pic>
      <p:pic>
        <p:nvPicPr>
          <p:cNvPr id="303" name="Google Shape;303;p17"/>
          <p:cNvPicPr preferRelativeResize="0"/>
          <p:nvPr/>
        </p:nvPicPr>
        <p:blipFill>
          <a:blip r:embed="rId4">
            <a:alphaModFix/>
          </a:blip>
          <a:stretch>
            <a:fillRect/>
          </a:stretch>
        </p:blipFill>
        <p:spPr>
          <a:xfrm>
            <a:off x="1198500" y="2755100"/>
            <a:ext cx="6484074" cy="1781175"/>
          </a:xfrm>
          <a:prstGeom prst="rect">
            <a:avLst/>
          </a:prstGeom>
          <a:noFill/>
          <a:ln cap="flat" cmpd="sng" w="12700">
            <a:solidFill>
              <a:srgbClr val="FFFFFF"/>
            </a:solidFill>
            <a:prstDash val="solid"/>
            <a:miter lim="8000"/>
            <a:headEnd len="sm" w="sm" type="none"/>
            <a:tailEnd len="sm" w="sm" type="none"/>
          </a:ln>
        </p:spPr>
      </p:pic>
      <p:sp>
        <p:nvSpPr>
          <p:cNvPr id="304" name="Google Shape;304;p17"/>
          <p:cNvSpPr txBox="1"/>
          <p:nvPr/>
        </p:nvSpPr>
        <p:spPr>
          <a:xfrm>
            <a:off x="1198500" y="925650"/>
            <a:ext cx="3089400" cy="13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2"/>
                </a:solidFill>
                <a:latin typeface="Nunito"/>
                <a:ea typeface="Nunito"/>
                <a:cs typeface="Nunito"/>
                <a:sym typeface="Nunito"/>
              </a:rPr>
              <a:t>Signal attenuation of RF signal:</a:t>
            </a:r>
            <a:endParaRPr b="1">
              <a:solidFill>
                <a:schemeClr val="dk2"/>
              </a:solidFill>
              <a:latin typeface="Nunito"/>
              <a:ea typeface="Nunito"/>
              <a:cs typeface="Nunito"/>
              <a:sym typeface="Nunito"/>
            </a:endParaRPr>
          </a:p>
          <a:p>
            <a:pPr indent="-311150" lvl="0" marL="28575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Due to humidity in the atmosphere. </a:t>
            </a:r>
            <a:endParaRPr sz="1300">
              <a:solidFill>
                <a:schemeClr val="dk2"/>
              </a:solidFill>
              <a:latin typeface="Nunito"/>
              <a:ea typeface="Nunito"/>
              <a:cs typeface="Nunito"/>
              <a:sym typeface="Nunito"/>
            </a:endParaRPr>
          </a:p>
          <a:p>
            <a:pPr indent="-311150" lvl="0" marL="28575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Dust particles in the atmosphere.</a:t>
            </a:r>
            <a:endParaRPr sz="1300">
              <a:solidFill>
                <a:schemeClr val="dk2"/>
              </a:solidFill>
              <a:latin typeface="Nunito"/>
              <a:ea typeface="Nunito"/>
              <a:cs typeface="Nunito"/>
              <a:sym typeface="Nunito"/>
            </a:endParaRPr>
          </a:p>
          <a:p>
            <a:pPr indent="-311150" lvl="0" marL="28575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Due to rain.</a:t>
            </a:r>
            <a:endParaRPr sz="1300">
              <a:solidFill>
                <a:schemeClr val="dk2"/>
              </a:solidFill>
              <a:latin typeface="Nunito"/>
              <a:ea typeface="Nunito"/>
              <a:cs typeface="Nunito"/>
              <a:sym typeface="Nunito"/>
            </a:endParaRPr>
          </a:p>
          <a:p>
            <a:pPr indent="-311150" lvl="0" marL="285750" rtl="0" algn="l">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Line of sight.</a:t>
            </a:r>
            <a:endParaRPr sz="1300">
              <a:solidFill>
                <a:schemeClr val="dk2"/>
              </a:solidFill>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165075" y="588650"/>
            <a:ext cx="78753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GSM COMMUNICATION (Global System for Mobile)</a:t>
            </a:r>
            <a:endParaRPr/>
          </a:p>
        </p:txBody>
      </p:sp>
      <p:sp>
        <p:nvSpPr>
          <p:cNvPr id="310" name="Google Shape;310;p18"/>
          <p:cNvSpPr txBox="1"/>
          <p:nvPr>
            <p:ph idx="1" type="body"/>
          </p:nvPr>
        </p:nvSpPr>
        <p:spPr>
          <a:xfrm>
            <a:off x="45150" y="1890950"/>
            <a:ext cx="5556300" cy="25416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a:t>GSM is an open and digital cellular technology used for mobile communication, which is between two mobile via SIM (Subscriber Identity Module).  </a:t>
            </a:r>
            <a:endParaRPr/>
          </a:p>
          <a:p>
            <a:pPr indent="0" lvl="0" marL="0" rtl="0" algn="just">
              <a:spcBef>
                <a:spcPts val="1200"/>
              </a:spcBef>
              <a:spcAft>
                <a:spcPts val="0"/>
              </a:spcAft>
              <a:buNone/>
            </a:pPr>
            <a:r>
              <a:rPr lang="en"/>
              <a:t>It is developed by the European Telecommunications Standards Institute (ETSI) to describe the protocols for second-generation (2G) digital cellular networks used by mobile devices such as mobile phones and tablets.  </a:t>
            </a:r>
            <a:endParaRPr/>
          </a:p>
          <a:p>
            <a:pPr indent="0" lvl="0" marL="0" rtl="0" algn="just">
              <a:spcBef>
                <a:spcPts val="1200"/>
              </a:spcBef>
              <a:spcAft>
                <a:spcPts val="0"/>
              </a:spcAft>
              <a:buNone/>
            </a:pPr>
            <a:r>
              <a:rPr lang="en"/>
              <a:t>It was first implemented by Germany in 1992.  </a:t>
            </a:r>
            <a:endParaRPr/>
          </a:p>
          <a:p>
            <a:pPr indent="0" lvl="0" marL="0" rtl="0" algn="just">
              <a:spcBef>
                <a:spcPts val="1200"/>
              </a:spcBef>
              <a:spcAft>
                <a:spcPts val="1200"/>
              </a:spcAft>
              <a:buNone/>
            </a:pPr>
            <a:r>
              <a:rPr lang="en"/>
              <a:t>GSM uses 2G and 3G technology to transfer voice and data. </a:t>
            </a:r>
            <a:endParaRPr/>
          </a:p>
        </p:txBody>
      </p:sp>
      <p:sp>
        <p:nvSpPr>
          <p:cNvPr id="311" name="Google Shape;311;p18"/>
          <p:cNvSpPr txBox="1"/>
          <p:nvPr/>
        </p:nvSpPr>
        <p:spPr>
          <a:xfrm>
            <a:off x="5710475" y="1890950"/>
            <a:ext cx="3399300" cy="20277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300">
                <a:solidFill>
                  <a:schemeClr val="dk2"/>
                </a:solidFill>
                <a:latin typeface="Nunito"/>
                <a:ea typeface="Nunito"/>
                <a:cs typeface="Nunito"/>
                <a:sym typeface="Nunito"/>
              </a:rPr>
              <a:t>The Architecture of GSM: </a:t>
            </a:r>
            <a:endParaRPr b="1" sz="1300">
              <a:solidFill>
                <a:schemeClr val="dk2"/>
              </a:solidFill>
              <a:latin typeface="Nunito"/>
              <a:ea typeface="Nunito"/>
              <a:cs typeface="Nunito"/>
              <a:sym typeface="Nunito"/>
            </a:endParaRPr>
          </a:p>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The mobile station (MS)</a:t>
            </a:r>
            <a:endParaRPr sz="1300">
              <a:solidFill>
                <a:schemeClr val="dk2"/>
              </a:solidFill>
              <a:latin typeface="Nunito"/>
              <a:ea typeface="Nunito"/>
              <a:cs typeface="Nunito"/>
              <a:sym typeface="Nunito"/>
            </a:endParaRPr>
          </a:p>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The base station system (BSS)  </a:t>
            </a:r>
            <a:endParaRPr sz="1300">
              <a:solidFill>
                <a:schemeClr val="dk2"/>
              </a:solidFill>
              <a:latin typeface="Nunito"/>
              <a:ea typeface="Nunito"/>
              <a:cs typeface="Nunito"/>
              <a:sym typeface="Nunito"/>
            </a:endParaRPr>
          </a:p>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The network switching system (NSS)  </a:t>
            </a:r>
            <a:endParaRPr sz="1300">
              <a:solidFill>
                <a:schemeClr val="dk2"/>
              </a:solidFill>
              <a:latin typeface="Nunito"/>
              <a:ea typeface="Nunito"/>
              <a:cs typeface="Nunito"/>
              <a:sym typeface="Nunito"/>
            </a:endParaRPr>
          </a:p>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The operations and support system (OSS)</a:t>
            </a:r>
            <a:endParaRPr sz="1300">
              <a:solidFill>
                <a:schemeClr val="dk2"/>
              </a:solidFill>
              <a:latin typeface="Nunito"/>
              <a:ea typeface="Nunito"/>
              <a:cs typeface="Nunito"/>
              <a:sym typeface="Nunito"/>
            </a:endParaRPr>
          </a:p>
        </p:txBody>
      </p:sp>
      <p:cxnSp>
        <p:nvCxnSpPr>
          <p:cNvPr id="312" name="Google Shape;312;p18"/>
          <p:cNvCxnSpPr/>
          <p:nvPr/>
        </p:nvCxnSpPr>
        <p:spPr>
          <a:xfrm flipH="1">
            <a:off x="5646063" y="1738300"/>
            <a:ext cx="19800" cy="29532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19"/>
          <p:cNvPicPr preferRelativeResize="0"/>
          <p:nvPr/>
        </p:nvPicPr>
        <p:blipFill>
          <a:blip r:embed="rId3">
            <a:alphaModFix/>
          </a:blip>
          <a:stretch>
            <a:fillRect/>
          </a:stretch>
        </p:blipFill>
        <p:spPr>
          <a:xfrm>
            <a:off x="1009213" y="2134700"/>
            <a:ext cx="7125575" cy="2946600"/>
          </a:xfrm>
          <a:prstGeom prst="rect">
            <a:avLst/>
          </a:prstGeom>
          <a:noFill/>
          <a:ln>
            <a:noFill/>
          </a:ln>
        </p:spPr>
      </p:pic>
      <p:pic>
        <p:nvPicPr>
          <p:cNvPr id="318" name="Google Shape;318;p19"/>
          <p:cNvPicPr preferRelativeResize="0"/>
          <p:nvPr/>
        </p:nvPicPr>
        <p:blipFill>
          <a:blip r:embed="rId4">
            <a:alphaModFix/>
          </a:blip>
          <a:stretch>
            <a:fillRect/>
          </a:stretch>
        </p:blipFill>
        <p:spPr>
          <a:xfrm>
            <a:off x="1898250" y="236450"/>
            <a:ext cx="6581775" cy="18982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RADIO COMMUNICATION</a:t>
            </a:r>
            <a:endParaRPr/>
          </a:p>
        </p:txBody>
      </p:sp>
      <p:sp>
        <p:nvSpPr>
          <p:cNvPr id="324" name="Google Shape;324;p20"/>
          <p:cNvSpPr txBox="1"/>
          <p:nvPr>
            <p:ph idx="1" type="body"/>
          </p:nvPr>
        </p:nvSpPr>
        <p:spPr>
          <a:xfrm>
            <a:off x="1254250" y="1300950"/>
            <a:ext cx="7030500" cy="1270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In radio communication systems, information is carried across space using radio waves, where Radio waves are electromagnetic waves of frequency between 3 hertz (Hz) and 300 gigahertz (GHz) </a:t>
            </a:r>
            <a:endParaRPr/>
          </a:p>
        </p:txBody>
      </p:sp>
      <p:pic>
        <p:nvPicPr>
          <p:cNvPr id="325" name="Google Shape;325;p20"/>
          <p:cNvPicPr preferRelativeResize="0"/>
          <p:nvPr/>
        </p:nvPicPr>
        <p:blipFill>
          <a:blip r:embed="rId3">
            <a:alphaModFix/>
          </a:blip>
          <a:stretch>
            <a:fillRect/>
          </a:stretch>
        </p:blipFill>
        <p:spPr>
          <a:xfrm>
            <a:off x="1495425" y="2105000"/>
            <a:ext cx="6153150" cy="2592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1"/>
          <p:cNvSpPr txBox="1"/>
          <p:nvPr>
            <p:ph idx="1" type="body"/>
          </p:nvPr>
        </p:nvSpPr>
        <p:spPr>
          <a:xfrm>
            <a:off x="1283975" y="1907050"/>
            <a:ext cx="7030500" cy="2911500"/>
          </a:xfrm>
          <a:prstGeom prst="rect">
            <a:avLst/>
          </a:prstGeom>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 sz="1600">
                <a:solidFill>
                  <a:srgbClr val="000000"/>
                </a:solidFill>
              </a:rPr>
              <a:t>Network Architecture:</a:t>
            </a:r>
            <a:endParaRPr sz="1600">
              <a:solidFill>
                <a:srgbClr val="000000"/>
              </a:solidFill>
            </a:endParaRPr>
          </a:p>
          <a:p>
            <a:pPr indent="-311150" lvl="0" marL="228600" rtl="0" algn="just">
              <a:lnSpc>
                <a:spcPct val="150000"/>
              </a:lnSpc>
              <a:spcBef>
                <a:spcPts val="0"/>
              </a:spcBef>
              <a:spcAft>
                <a:spcPts val="0"/>
              </a:spcAft>
              <a:buClr>
                <a:srgbClr val="000000"/>
              </a:buClr>
              <a:buSzPts val="1300"/>
              <a:buFont typeface="Times New Roman"/>
              <a:buChar char="●"/>
            </a:pPr>
            <a:r>
              <a:rPr b="1" lang="en" sz="1300">
                <a:solidFill>
                  <a:srgbClr val="000000"/>
                </a:solidFill>
              </a:rPr>
              <a:t>Access Point (AP): </a:t>
            </a:r>
            <a:r>
              <a:rPr lang="en" sz="1300">
                <a:solidFill>
                  <a:srgbClr val="000000"/>
                </a:solidFill>
              </a:rPr>
              <a:t>T</a:t>
            </a:r>
            <a:r>
              <a:rPr lang="en" sz="1300">
                <a:solidFill>
                  <a:srgbClr val="000000"/>
                </a:solidFill>
                <a:uFill>
                  <a:noFill/>
                </a:uFill>
                <a:hlinkClick r:id="rId3">
                  <a:extLst>
                    <a:ext uri="{A12FA001-AC4F-418D-AE19-62706E023703}">
                      <ahyp:hlinkClr val="tx"/>
                    </a:ext>
                  </a:extLst>
                </a:hlinkClick>
              </a:rPr>
              <a:t>hese are the primary base stations in a radio communication network</a:t>
            </a:r>
            <a:r>
              <a:rPr lang="en" sz="1300">
                <a:solidFill>
                  <a:srgbClr val="000000"/>
                </a:solidFill>
              </a:rPr>
              <a:t>. They transmit data to multiple subscriber modules.</a:t>
            </a:r>
            <a:endParaRPr>
              <a:solidFill>
                <a:srgbClr val="000000"/>
              </a:solidFill>
            </a:endParaRPr>
          </a:p>
          <a:p>
            <a:pPr indent="-311150" lvl="0" marL="228600" rtl="0" algn="just">
              <a:lnSpc>
                <a:spcPct val="150000"/>
              </a:lnSpc>
              <a:spcBef>
                <a:spcPts val="0"/>
              </a:spcBef>
              <a:spcAft>
                <a:spcPts val="0"/>
              </a:spcAft>
              <a:buClr>
                <a:srgbClr val="000000"/>
              </a:buClr>
              <a:buSzPts val="1300"/>
              <a:buFont typeface="Times New Roman"/>
              <a:buChar char="●"/>
            </a:pPr>
            <a:r>
              <a:rPr b="1" lang="en" sz="1300">
                <a:solidFill>
                  <a:srgbClr val="000000"/>
                </a:solidFill>
              </a:rPr>
              <a:t>Radio Transmission:</a:t>
            </a:r>
            <a:r>
              <a:rPr lang="en" sz="1300">
                <a:solidFill>
                  <a:srgbClr val="000000"/>
                </a:solidFill>
              </a:rPr>
              <a:t> In radio transmission, a radiating antenna is used to convert a time-varying electric current into an electromagnetic wave or field, which freely propagates through a non-conducting medium such as air or space. </a:t>
            </a:r>
            <a:endParaRPr sz="1300">
              <a:solidFill>
                <a:srgbClr val="000000"/>
              </a:solidFill>
            </a:endParaRPr>
          </a:p>
          <a:p>
            <a:pPr indent="-311150" lvl="0" marL="228600" rtl="0" algn="just">
              <a:lnSpc>
                <a:spcPct val="150000"/>
              </a:lnSpc>
              <a:spcBef>
                <a:spcPts val="0"/>
              </a:spcBef>
              <a:spcAft>
                <a:spcPts val="0"/>
              </a:spcAft>
              <a:buClr>
                <a:srgbClr val="000000"/>
              </a:buClr>
              <a:buSzPts val="1300"/>
              <a:buFont typeface="Times New Roman"/>
              <a:buChar char="●"/>
            </a:pPr>
            <a:r>
              <a:rPr b="1" lang="en" sz="1300">
                <a:solidFill>
                  <a:srgbClr val="000000"/>
                </a:solidFill>
              </a:rPr>
              <a:t>Subscriber Modules (SMs):</a:t>
            </a:r>
            <a:r>
              <a:rPr lang="en" sz="1300">
                <a:solidFill>
                  <a:srgbClr val="000000"/>
                </a:solidFill>
                <a:uFill>
                  <a:noFill/>
                </a:uFill>
                <a:hlinkClick r:id="rId4">
                  <a:extLst>
                    <a:ext uri="{A12FA001-AC4F-418D-AE19-62706E023703}">
                      <ahyp:hlinkClr val="tx"/>
                    </a:ext>
                  </a:extLst>
                </a:hlinkClick>
              </a:rPr>
              <a:t> These are the end-user devices that receive data from the access points</a:t>
            </a:r>
            <a:r>
              <a:rPr lang="en" sz="1300">
                <a:solidFill>
                  <a:srgbClr val="000000"/>
                </a:solidFill>
              </a:rPr>
              <a:t>. They can be fixed or mobile, and are typically installed at the customer’s premises</a:t>
            </a:r>
            <a:endParaRPr sz="1300"/>
          </a:p>
        </p:txBody>
      </p:sp>
      <p:sp>
        <p:nvSpPr>
          <p:cNvPr id="331" name="Google Shape;331;p21"/>
          <p:cNvSpPr txBox="1"/>
          <p:nvPr/>
        </p:nvSpPr>
        <p:spPr>
          <a:xfrm>
            <a:off x="1038900" y="678650"/>
            <a:ext cx="7066200" cy="1038600"/>
          </a:xfrm>
          <a:prstGeom prst="rect">
            <a:avLst/>
          </a:prstGeom>
          <a:noFill/>
          <a:ln>
            <a:noFill/>
          </a:ln>
        </p:spPr>
        <p:txBody>
          <a:bodyPr anchorCtr="0" anchor="t" bIns="91425" lIns="91425" spcFirstLastPara="1" rIns="91425" wrap="square" tIns="91425">
            <a:noAutofit/>
          </a:bodyPr>
          <a:lstStyle/>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Radio communication is point to point. </a:t>
            </a:r>
            <a:endParaRPr sz="1300">
              <a:solidFill>
                <a:schemeClr val="dk2"/>
              </a:solidFill>
              <a:latin typeface="Nunito"/>
              <a:ea typeface="Nunito"/>
              <a:cs typeface="Nunito"/>
              <a:sym typeface="Nunito"/>
            </a:endParaRPr>
          </a:p>
          <a:p>
            <a:pPr indent="-311150" lvl="0" marL="457200" rtl="0" algn="l">
              <a:lnSpc>
                <a:spcPct val="150000"/>
              </a:lnSpc>
              <a:spcBef>
                <a:spcPts val="0"/>
              </a:spcBef>
              <a:spcAft>
                <a:spcPts val="0"/>
              </a:spcAft>
              <a:buClr>
                <a:schemeClr val="dk2"/>
              </a:buClr>
              <a:buSzPts val="1300"/>
              <a:buFont typeface="Nunito"/>
              <a:buChar char="●"/>
            </a:pPr>
            <a:r>
              <a:rPr lang="en" sz="1300">
                <a:solidFill>
                  <a:schemeClr val="dk2"/>
                </a:solidFill>
                <a:latin typeface="Nunito"/>
                <a:ea typeface="Nunito"/>
                <a:cs typeface="Nunito"/>
                <a:sym typeface="Nunito"/>
              </a:rPr>
              <a:t>Radio is a very useful method to communicate data from one device to another, especially over long distances, or where physical wiring is not feasible.</a:t>
            </a:r>
            <a:endParaRPr sz="1300">
              <a:solidFill>
                <a:schemeClr val="dk2"/>
              </a:solidFill>
              <a:latin typeface="Nunito"/>
              <a:ea typeface="Nunito"/>
              <a:cs typeface="Nunito"/>
              <a:sym typeface="Nuni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2"/>
          <p:cNvSpPr txBox="1"/>
          <p:nvPr>
            <p:ph type="title"/>
          </p:nvPr>
        </p:nvSpPr>
        <p:spPr>
          <a:xfrm>
            <a:off x="1283975" y="648150"/>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EXCHANGE</a:t>
            </a:r>
            <a:endParaRPr/>
          </a:p>
        </p:txBody>
      </p:sp>
      <p:sp>
        <p:nvSpPr>
          <p:cNvPr id="337" name="Google Shape;337;p22"/>
          <p:cNvSpPr txBox="1"/>
          <p:nvPr>
            <p:ph idx="1" type="body"/>
          </p:nvPr>
        </p:nvSpPr>
        <p:spPr>
          <a:xfrm>
            <a:off x="1283975" y="1339050"/>
            <a:ext cx="7030500" cy="1310100"/>
          </a:xfrm>
          <a:prstGeom prst="rect">
            <a:avLst/>
          </a:prstGeom>
        </p:spPr>
        <p:txBody>
          <a:bodyPr anchorCtr="0" anchor="t" bIns="91425" lIns="91425" spcFirstLastPara="1" rIns="91425" wrap="square" tIns="91425">
            <a:normAutofit/>
          </a:bodyPr>
          <a:lstStyle/>
          <a:p>
            <a:pPr indent="-304800" lvl="0" marL="228600" rtl="0" algn="just">
              <a:lnSpc>
                <a:spcPct val="150000"/>
              </a:lnSpc>
              <a:spcBef>
                <a:spcPts val="0"/>
              </a:spcBef>
              <a:spcAft>
                <a:spcPts val="0"/>
              </a:spcAft>
              <a:buClr>
                <a:srgbClr val="202122"/>
              </a:buClr>
              <a:buSzPts val="1200"/>
              <a:buFont typeface="Times New Roman"/>
              <a:buChar char="●"/>
            </a:pPr>
            <a:r>
              <a:rPr lang="en" sz="1200">
                <a:solidFill>
                  <a:srgbClr val="202122"/>
                </a:solidFill>
                <a:highlight>
                  <a:srgbClr val="FFFFFF"/>
                </a:highlight>
                <a:latin typeface="Times New Roman"/>
                <a:ea typeface="Times New Roman"/>
                <a:cs typeface="Times New Roman"/>
                <a:sym typeface="Times New Roman"/>
              </a:rPr>
              <a:t>A telephone exchange, also known as a telephone switch or central office.</a:t>
            </a:r>
            <a:endParaRPr sz="1200">
              <a:solidFill>
                <a:srgbClr val="202122"/>
              </a:solidFill>
              <a:highlight>
                <a:srgbClr val="FFFFFF"/>
              </a:highlight>
              <a:latin typeface="Times New Roman"/>
              <a:ea typeface="Times New Roman"/>
              <a:cs typeface="Times New Roman"/>
              <a:sym typeface="Times New Roman"/>
            </a:endParaRPr>
          </a:p>
          <a:p>
            <a:pPr indent="-304800" lvl="0" marL="228600" rtl="0" algn="just">
              <a:lnSpc>
                <a:spcPct val="150000"/>
              </a:lnSpc>
              <a:spcBef>
                <a:spcPts val="0"/>
              </a:spcBef>
              <a:spcAft>
                <a:spcPts val="0"/>
              </a:spcAft>
              <a:buClr>
                <a:srgbClr val="202122"/>
              </a:buClr>
              <a:buSzPts val="1200"/>
              <a:buFont typeface="Times New Roman"/>
              <a:buChar char="●"/>
            </a:pPr>
            <a:r>
              <a:rPr lang="en" sz="1200">
                <a:solidFill>
                  <a:srgbClr val="202122"/>
                </a:solidFill>
                <a:highlight>
                  <a:srgbClr val="FFFFFF"/>
                </a:highlight>
                <a:latin typeface="Times New Roman"/>
                <a:ea typeface="Times New Roman"/>
                <a:cs typeface="Times New Roman"/>
                <a:sym typeface="Times New Roman"/>
              </a:rPr>
              <a:t>It facilitates the interconnection of telephone subscriber lines or digital system virtual circuits, enabling telephone calls between subscribers.</a:t>
            </a:r>
            <a:endParaRPr sz="1200">
              <a:solidFill>
                <a:srgbClr val="202122"/>
              </a:solidFill>
              <a:highlight>
                <a:srgbClr val="FFFFFF"/>
              </a:highlight>
              <a:latin typeface="Times New Roman"/>
              <a:ea typeface="Times New Roman"/>
              <a:cs typeface="Times New Roman"/>
              <a:sym typeface="Times New Roman"/>
            </a:endParaRPr>
          </a:p>
          <a:p>
            <a:pPr indent="-304800" lvl="0" marL="228600" rtl="0" algn="just">
              <a:lnSpc>
                <a:spcPct val="150000"/>
              </a:lnSpc>
              <a:spcBef>
                <a:spcPts val="0"/>
              </a:spcBef>
              <a:spcAft>
                <a:spcPts val="0"/>
              </a:spcAft>
              <a:buClr>
                <a:srgbClr val="202122"/>
              </a:buClr>
              <a:buSzPts val="1200"/>
              <a:buFont typeface="Times New Roman"/>
              <a:buChar char="●"/>
            </a:pPr>
            <a:r>
              <a:rPr lang="en" sz="1200">
                <a:solidFill>
                  <a:srgbClr val="202122"/>
                </a:solidFill>
                <a:highlight>
                  <a:srgbClr val="FFFFFF"/>
                </a:highlight>
                <a:latin typeface="Times New Roman"/>
                <a:ea typeface="Times New Roman"/>
                <a:cs typeface="Times New Roman"/>
                <a:sym typeface="Times New Roman"/>
              </a:rPr>
              <a:t>The main functions of an Exchange are </a:t>
            </a:r>
            <a:r>
              <a:rPr b="1" lang="en" sz="1200">
                <a:solidFill>
                  <a:srgbClr val="202122"/>
                </a:solidFill>
                <a:highlight>
                  <a:srgbClr val="FFFFFF"/>
                </a:highlight>
                <a:latin typeface="Times New Roman"/>
                <a:ea typeface="Times New Roman"/>
                <a:cs typeface="Times New Roman"/>
                <a:sym typeface="Times New Roman"/>
              </a:rPr>
              <a:t>Switching</a:t>
            </a:r>
            <a:r>
              <a:rPr lang="en" sz="1200">
                <a:solidFill>
                  <a:srgbClr val="202122"/>
                </a:solidFill>
                <a:highlight>
                  <a:srgbClr val="FFFFFF"/>
                </a:highlight>
                <a:latin typeface="Times New Roman"/>
                <a:ea typeface="Times New Roman"/>
                <a:cs typeface="Times New Roman"/>
                <a:sym typeface="Times New Roman"/>
              </a:rPr>
              <a:t>, </a:t>
            </a:r>
            <a:r>
              <a:rPr b="1" lang="en" sz="1200">
                <a:solidFill>
                  <a:srgbClr val="202122"/>
                </a:solidFill>
                <a:highlight>
                  <a:srgbClr val="FFFFFF"/>
                </a:highlight>
                <a:latin typeface="Times New Roman"/>
                <a:ea typeface="Times New Roman"/>
                <a:cs typeface="Times New Roman"/>
                <a:sym typeface="Times New Roman"/>
              </a:rPr>
              <a:t>Signalling</a:t>
            </a:r>
            <a:r>
              <a:rPr lang="en" sz="1200">
                <a:solidFill>
                  <a:srgbClr val="202122"/>
                </a:solidFill>
                <a:highlight>
                  <a:srgbClr val="FFFFFF"/>
                </a:highlight>
                <a:latin typeface="Times New Roman"/>
                <a:ea typeface="Times New Roman"/>
                <a:cs typeface="Times New Roman"/>
                <a:sym typeface="Times New Roman"/>
              </a:rPr>
              <a:t>, and </a:t>
            </a:r>
            <a:r>
              <a:rPr b="1" lang="en" sz="1200">
                <a:solidFill>
                  <a:srgbClr val="202122"/>
                </a:solidFill>
                <a:highlight>
                  <a:srgbClr val="FFFFFF"/>
                </a:highlight>
                <a:latin typeface="Times New Roman"/>
                <a:ea typeface="Times New Roman"/>
                <a:cs typeface="Times New Roman"/>
                <a:sym typeface="Times New Roman"/>
              </a:rPr>
              <a:t>Controlling.</a:t>
            </a:r>
            <a:endParaRPr/>
          </a:p>
        </p:txBody>
      </p:sp>
      <p:pic>
        <p:nvPicPr>
          <p:cNvPr id="338" name="Google Shape;338;p22"/>
          <p:cNvPicPr preferRelativeResize="0"/>
          <p:nvPr/>
        </p:nvPicPr>
        <p:blipFill>
          <a:blip r:embed="rId3">
            <a:alphaModFix/>
          </a:blip>
          <a:stretch>
            <a:fillRect/>
          </a:stretch>
        </p:blipFill>
        <p:spPr>
          <a:xfrm>
            <a:off x="1343450" y="2725350"/>
            <a:ext cx="5943600" cy="2011825"/>
          </a:xfrm>
          <a:prstGeom prst="rect">
            <a:avLst/>
          </a:prstGeom>
          <a:noFill/>
          <a:ln>
            <a:noFill/>
          </a:ln>
        </p:spPr>
      </p:pic>
      <p:sp>
        <p:nvSpPr>
          <p:cNvPr id="339" name="Google Shape;339;p22"/>
          <p:cNvSpPr/>
          <p:nvPr/>
        </p:nvSpPr>
        <p:spPr>
          <a:xfrm>
            <a:off x="5621175" y="4255525"/>
            <a:ext cx="1665900" cy="5946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NETWORK</a:t>
            </a:r>
            <a:endParaRPr/>
          </a:p>
        </p:txBody>
      </p:sp>
      <p:pic>
        <p:nvPicPr>
          <p:cNvPr id="345" name="Google Shape;345;p23"/>
          <p:cNvPicPr preferRelativeResize="0"/>
          <p:nvPr/>
        </p:nvPicPr>
        <p:blipFill>
          <a:blip r:embed="rId3">
            <a:alphaModFix/>
          </a:blip>
          <a:stretch>
            <a:fillRect/>
          </a:stretch>
        </p:blipFill>
        <p:spPr>
          <a:xfrm>
            <a:off x="4783875" y="2037963"/>
            <a:ext cx="3741075" cy="2936875"/>
          </a:xfrm>
          <a:prstGeom prst="rect">
            <a:avLst/>
          </a:prstGeom>
          <a:noFill/>
          <a:ln>
            <a:noFill/>
          </a:ln>
        </p:spPr>
      </p:pic>
      <p:sp>
        <p:nvSpPr>
          <p:cNvPr id="346" name="Google Shape;346;p23"/>
          <p:cNvSpPr txBox="1"/>
          <p:nvPr/>
        </p:nvSpPr>
        <p:spPr>
          <a:xfrm>
            <a:off x="866750" y="2563638"/>
            <a:ext cx="3503100" cy="1885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300">
                <a:latin typeface="Nunito"/>
                <a:ea typeface="Nunito"/>
                <a:cs typeface="Nunito"/>
                <a:sym typeface="Nunito"/>
              </a:rPr>
              <a:t>Types of Computer Networks</a:t>
            </a:r>
            <a:endParaRPr b="1" sz="1300">
              <a:latin typeface="Nunito"/>
              <a:ea typeface="Nunito"/>
              <a:cs typeface="Nunito"/>
              <a:sym typeface="Nunito"/>
            </a:endParaRPr>
          </a:p>
          <a:p>
            <a:pPr indent="-311150" lvl="0" marL="342900" rtl="0" algn="just">
              <a:lnSpc>
                <a:spcPct val="150000"/>
              </a:lnSpc>
              <a:spcBef>
                <a:spcPts val="0"/>
              </a:spcBef>
              <a:spcAft>
                <a:spcPts val="0"/>
              </a:spcAft>
              <a:buSzPts val="1300"/>
              <a:buFont typeface="Nunito"/>
              <a:buChar char="●"/>
            </a:pPr>
            <a:r>
              <a:rPr lang="en" sz="1300">
                <a:uFill>
                  <a:noFill/>
                </a:uFill>
                <a:latin typeface="Nunito"/>
                <a:ea typeface="Nunito"/>
                <a:cs typeface="Nunito"/>
                <a:sym typeface="Nunito"/>
                <a:hlinkClick r:id="rId4"/>
              </a:rPr>
              <a:t>Personal Area Network (PAN)</a:t>
            </a:r>
            <a:endParaRPr sz="1300">
              <a:latin typeface="Nunito"/>
              <a:ea typeface="Nunito"/>
              <a:cs typeface="Nunito"/>
              <a:sym typeface="Nunito"/>
            </a:endParaRPr>
          </a:p>
          <a:p>
            <a:pPr indent="-311150" lvl="0" marL="342900" rtl="0" algn="just">
              <a:lnSpc>
                <a:spcPct val="150000"/>
              </a:lnSpc>
              <a:spcBef>
                <a:spcPts val="0"/>
              </a:spcBef>
              <a:spcAft>
                <a:spcPts val="0"/>
              </a:spcAft>
              <a:buSzPts val="1300"/>
              <a:buFont typeface="Nunito"/>
              <a:buChar char="●"/>
            </a:pPr>
            <a:r>
              <a:rPr lang="en" sz="1300">
                <a:uFill>
                  <a:noFill/>
                </a:uFill>
                <a:latin typeface="Nunito"/>
                <a:ea typeface="Nunito"/>
                <a:cs typeface="Nunito"/>
                <a:sym typeface="Nunito"/>
                <a:hlinkClick r:id="rId5"/>
              </a:rPr>
              <a:t>Local Area Network (LAN)</a:t>
            </a:r>
            <a:endParaRPr sz="1300">
              <a:latin typeface="Nunito"/>
              <a:ea typeface="Nunito"/>
              <a:cs typeface="Nunito"/>
              <a:sym typeface="Nunito"/>
            </a:endParaRPr>
          </a:p>
          <a:p>
            <a:pPr indent="-311150" lvl="0" marL="342900" rtl="0" algn="just">
              <a:lnSpc>
                <a:spcPct val="150000"/>
              </a:lnSpc>
              <a:spcBef>
                <a:spcPts val="0"/>
              </a:spcBef>
              <a:spcAft>
                <a:spcPts val="0"/>
              </a:spcAft>
              <a:buSzPts val="1300"/>
              <a:buFont typeface="Nunito"/>
              <a:buChar char="●"/>
            </a:pPr>
            <a:r>
              <a:rPr lang="en" sz="1300">
                <a:uFill>
                  <a:noFill/>
                </a:uFill>
                <a:latin typeface="Nunito"/>
                <a:ea typeface="Nunito"/>
                <a:cs typeface="Nunito"/>
                <a:sym typeface="Nunito"/>
                <a:hlinkClick r:id="rId6"/>
              </a:rPr>
              <a:t>Metropolitan Area Network (MAN)</a:t>
            </a:r>
            <a:endParaRPr sz="1300">
              <a:latin typeface="Nunito"/>
              <a:ea typeface="Nunito"/>
              <a:cs typeface="Nunito"/>
              <a:sym typeface="Nunito"/>
            </a:endParaRPr>
          </a:p>
          <a:p>
            <a:pPr indent="-311150" lvl="0" marL="342900" rtl="0" algn="just">
              <a:lnSpc>
                <a:spcPct val="150000"/>
              </a:lnSpc>
              <a:spcBef>
                <a:spcPts val="0"/>
              </a:spcBef>
              <a:spcAft>
                <a:spcPts val="0"/>
              </a:spcAft>
              <a:buSzPts val="1300"/>
              <a:buFont typeface="Nunito"/>
              <a:buChar char="●"/>
            </a:pPr>
            <a:r>
              <a:rPr lang="en" sz="1300">
                <a:uFill>
                  <a:noFill/>
                </a:uFill>
                <a:latin typeface="Nunito"/>
                <a:ea typeface="Nunito"/>
                <a:cs typeface="Nunito"/>
                <a:sym typeface="Nunito"/>
                <a:hlinkClick r:id="rId7"/>
              </a:rPr>
              <a:t>Wide Area Network (WAN)</a:t>
            </a:r>
            <a:endParaRPr sz="1300">
              <a:latin typeface="Nunito"/>
              <a:ea typeface="Nunito"/>
              <a:cs typeface="Nunito"/>
              <a:sym typeface="Nunito"/>
            </a:endParaRPr>
          </a:p>
          <a:p>
            <a:pPr indent="-311150" lvl="0" marL="342900" rtl="0" algn="just">
              <a:lnSpc>
                <a:spcPct val="150000"/>
              </a:lnSpc>
              <a:spcBef>
                <a:spcPts val="0"/>
              </a:spcBef>
              <a:spcAft>
                <a:spcPts val="0"/>
              </a:spcAft>
              <a:buSzPts val="1300"/>
              <a:buFont typeface="Nunito"/>
              <a:buChar char="●"/>
            </a:pPr>
            <a:r>
              <a:rPr lang="en" sz="1300">
                <a:latin typeface="Nunito"/>
                <a:ea typeface="Nunito"/>
                <a:cs typeface="Nunito"/>
                <a:sym typeface="Nunito"/>
              </a:rPr>
              <a:t>Virtual Private Network (VPN)</a:t>
            </a:r>
            <a:endParaRPr sz="1300">
              <a:latin typeface="Nunito"/>
              <a:ea typeface="Nunito"/>
              <a:cs typeface="Nunito"/>
              <a:sym typeface="Nunito"/>
            </a:endParaRPr>
          </a:p>
        </p:txBody>
      </p:sp>
      <p:sp>
        <p:nvSpPr>
          <p:cNvPr id="347" name="Google Shape;347;p23"/>
          <p:cNvSpPr txBox="1"/>
          <p:nvPr/>
        </p:nvSpPr>
        <p:spPr>
          <a:xfrm>
            <a:off x="1320150" y="1114550"/>
            <a:ext cx="7204800" cy="9852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300">
                <a:latin typeface="Nunito"/>
                <a:ea typeface="Nunito"/>
                <a:cs typeface="Nunito"/>
                <a:sym typeface="Nunito"/>
              </a:rPr>
              <a:t>A computer network is a system that connects two or more computing devices for transmitting and sharing information. These devices are connected using physical wires such as fiber optics, but they can also be wireless.</a:t>
            </a:r>
            <a:endParaRPr sz="1300">
              <a:latin typeface="Nunito"/>
              <a:ea typeface="Nunito"/>
              <a:cs typeface="Nunito"/>
              <a:sym typeface="Nunito"/>
            </a:endParaRPr>
          </a:p>
        </p:txBody>
      </p:sp>
      <p:cxnSp>
        <p:nvCxnSpPr>
          <p:cNvPr id="348" name="Google Shape;348;p23"/>
          <p:cNvCxnSpPr/>
          <p:nvPr/>
        </p:nvCxnSpPr>
        <p:spPr>
          <a:xfrm>
            <a:off x="4208850" y="2305850"/>
            <a:ext cx="9900" cy="25203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4"/>
          <p:cNvSpPr txBox="1"/>
          <p:nvPr/>
        </p:nvSpPr>
        <p:spPr>
          <a:xfrm>
            <a:off x="230225" y="390500"/>
            <a:ext cx="4008300" cy="4084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500">
                <a:latin typeface="Nunito"/>
                <a:ea typeface="Nunito"/>
                <a:cs typeface="Nunito"/>
                <a:sym typeface="Nunito"/>
              </a:rPr>
              <a:t>INTERNET PROTOCOL ADDRESS:</a:t>
            </a:r>
            <a:endParaRPr b="1" sz="1500">
              <a:latin typeface="Nunito"/>
              <a:ea typeface="Nunito"/>
              <a:cs typeface="Nunito"/>
              <a:sym typeface="Nunito"/>
            </a:endParaRPr>
          </a:p>
          <a:p>
            <a:pPr indent="0" lvl="0" marL="0" rtl="0" algn="just">
              <a:lnSpc>
                <a:spcPct val="150000"/>
              </a:lnSpc>
              <a:spcBef>
                <a:spcPts val="0"/>
              </a:spcBef>
              <a:spcAft>
                <a:spcPts val="0"/>
              </a:spcAft>
              <a:buNone/>
            </a:pPr>
            <a:r>
              <a:t/>
            </a:r>
            <a:endParaRPr b="1" sz="100">
              <a:latin typeface="Nunito"/>
              <a:ea typeface="Nunito"/>
              <a:cs typeface="Nunito"/>
              <a:sym typeface="Nunito"/>
            </a:endParaRPr>
          </a:p>
          <a:p>
            <a:pPr indent="-311150" lvl="0" marL="400050" rtl="0" algn="just">
              <a:lnSpc>
                <a:spcPct val="150000"/>
              </a:lnSpc>
              <a:spcBef>
                <a:spcPts val="0"/>
              </a:spcBef>
              <a:spcAft>
                <a:spcPts val="0"/>
              </a:spcAft>
              <a:buSzPts val="1300"/>
              <a:buFont typeface="Nunito"/>
              <a:buChar char="●"/>
            </a:pPr>
            <a:r>
              <a:rPr lang="en" sz="1300">
                <a:latin typeface="Nunito"/>
                <a:ea typeface="Nunito"/>
                <a:cs typeface="Nunito"/>
                <a:sym typeface="Nunito"/>
              </a:rPr>
              <a:t>The address through which any computer communicates with other computer is simply called an </a:t>
            </a:r>
            <a:r>
              <a:rPr lang="en" sz="1300">
                <a:uFill>
                  <a:noFill/>
                </a:uFill>
                <a:latin typeface="Nunito"/>
                <a:ea typeface="Nunito"/>
                <a:cs typeface="Nunito"/>
                <a:sym typeface="Nunito"/>
                <a:hlinkClick r:id="rId3"/>
              </a:rPr>
              <a:t>Internet Protocol Address or IP address</a:t>
            </a:r>
            <a:r>
              <a:rPr lang="en" sz="1300">
                <a:latin typeface="Nunito"/>
                <a:ea typeface="Nunito"/>
                <a:cs typeface="Nunito"/>
                <a:sym typeface="Nunito"/>
              </a:rPr>
              <a:t>.</a:t>
            </a:r>
            <a:endParaRPr sz="1300">
              <a:latin typeface="Nunito"/>
              <a:ea typeface="Nunito"/>
              <a:cs typeface="Nunito"/>
              <a:sym typeface="Nunito"/>
            </a:endParaRPr>
          </a:p>
          <a:p>
            <a:pPr indent="-311150" lvl="0" marL="400050" marR="0" rtl="0" algn="just">
              <a:lnSpc>
                <a:spcPct val="150000"/>
              </a:lnSpc>
              <a:spcBef>
                <a:spcPts val="0"/>
              </a:spcBef>
              <a:spcAft>
                <a:spcPts val="0"/>
              </a:spcAft>
              <a:buSzPts val="1300"/>
              <a:buFont typeface="Nunito"/>
              <a:buChar char="●"/>
            </a:pPr>
            <a:r>
              <a:rPr lang="en" sz="1300">
                <a:latin typeface="Nunito"/>
                <a:ea typeface="Nunito"/>
                <a:cs typeface="Nunito"/>
                <a:sym typeface="Nunito"/>
              </a:rPr>
              <a:t>For example, If we want to load a web page or we want to download something, we require the address for delivery of that particular file or webpage. That addre</a:t>
            </a:r>
            <a:r>
              <a:rPr lang="en" sz="1300">
                <a:latin typeface="Nunito"/>
                <a:ea typeface="Nunito"/>
                <a:cs typeface="Nunito"/>
                <a:sym typeface="Nunito"/>
              </a:rPr>
              <a:t>ss is called an IP Address. </a:t>
            </a:r>
            <a:endParaRPr sz="1300">
              <a:latin typeface="Nunito"/>
              <a:ea typeface="Nunito"/>
              <a:cs typeface="Nunito"/>
              <a:sym typeface="Nunito"/>
            </a:endParaRPr>
          </a:p>
          <a:p>
            <a:pPr indent="-311150" lvl="0" marL="400050" marR="0" rtl="0" algn="just">
              <a:lnSpc>
                <a:spcPct val="150000"/>
              </a:lnSpc>
              <a:spcBef>
                <a:spcPts val="0"/>
              </a:spcBef>
              <a:spcAft>
                <a:spcPts val="0"/>
              </a:spcAft>
              <a:buSzPts val="1300"/>
              <a:buFont typeface="Nunito"/>
              <a:buChar char="●"/>
            </a:pPr>
            <a:r>
              <a:rPr lang="en" sz="1300">
                <a:latin typeface="Nunito"/>
                <a:ea typeface="Nunito"/>
                <a:cs typeface="Nunito"/>
                <a:sym typeface="Nunito"/>
              </a:rPr>
              <a:t>Types of IP Addresses</a:t>
            </a:r>
            <a:endParaRPr sz="1300">
              <a:latin typeface="Nunito"/>
              <a:ea typeface="Nunito"/>
              <a:cs typeface="Nunito"/>
              <a:sym typeface="Nunito"/>
            </a:endParaRPr>
          </a:p>
          <a:p>
            <a:pPr indent="-311150" lvl="1" marL="628650" marR="0" rtl="0" algn="just">
              <a:lnSpc>
                <a:spcPct val="150000"/>
              </a:lnSpc>
              <a:spcBef>
                <a:spcPts val="0"/>
              </a:spcBef>
              <a:spcAft>
                <a:spcPts val="0"/>
              </a:spcAft>
              <a:buSzPts val="1300"/>
              <a:buFont typeface="Nunito"/>
              <a:buChar char="o"/>
            </a:pPr>
            <a:r>
              <a:rPr lang="en" sz="1300">
                <a:uFill>
                  <a:noFill/>
                </a:uFill>
                <a:latin typeface="Nunito"/>
                <a:ea typeface="Nunito"/>
                <a:cs typeface="Nunito"/>
                <a:sym typeface="Nunito"/>
                <a:hlinkClick r:id="rId4"/>
              </a:rPr>
              <a:t>IPv6</a:t>
            </a:r>
            <a:r>
              <a:rPr lang="en" sz="1300">
                <a:latin typeface="Nunito"/>
                <a:ea typeface="Nunito"/>
                <a:cs typeface="Nunito"/>
                <a:sym typeface="Nunito"/>
              </a:rPr>
              <a:t> (Internet Protocol Version 6)</a:t>
            </a:r>
            <a:endParaRPr sz="1300">
              <a:latin typeface="Nunito"/>
              <a:ea typeface="Nunito"/>
              <a:cs typeface="Nunito"/>
              <a:sym typeface="Nunito"/>
            </a:endParaRPr>
          </a:p>
          <a:p>
            <a:pPr indent="-311150" lvl="1" marL="628650" marR="0" rtl="0" algn="just">
              <a:lnSpc>
                <a:spcPct val="150000"/>
              </a:lnSpc>
              <a:spcBef>
                <a:spcPts val="0"/>
              </a:spcBef>
              <a:spcAft>
                <a:spcPts val="0"/>
              </a:spcAft>
              <a:buSzPts val="1300"/>
              <a:buFont typeface="Nunito"/>
              <a:buChar char="o"/>
            </a:pPr>
            <a:r>
              <a:rPr lang="en" sz="1300">
                <a:latin typeface="Nunito"/>
                <a:ea typeface="Nunito"/>
                <a:cs typeface="Nunito"/>
                <a:sym typeface="Nunito"/>
              </a:rPr>
              <a:t>IPv4 (Internet Protocol Version 4)</a:t>
            </a:r>
            <a:endParaRPr sz="1300">
              <a:latin typeface="Nunito"/>
              <a:ea typeface="Nunito"/>
              <a:cs typeface="Nunito"/>
              <a:sym typeface="Nunito"/>
            </a:endParaRPr>
          </a:p>
        </p:txBody>
      </p:sp>
      <p:pic>
        <p:nvPicPr>
          <p:cNvPr id="354" name="Google Shape;354;p24"/>
          <p:cNvPicPr preferRelativeResize="0"/>
          <p:nvPr/>
        </p:nvPicPr>
        <p:blipFill>
          <a:blip r:embed="rId5">
            <a:alphaModFix/>
          </a:blip>
          <a:stretch>
            <a:fillRect/>
          </a:stretch>
        </p:blipFill>
        <p:spPr>
          <a:xfrm>
            <a:off x="4865300" y="860650"/>
            <a:ext cx="3669475" cy="4031250"/>
          </a:xfrm>
          <a:prstGeom prst="rect">
            <a:avLst/>
          </a:prstGeom>
          <a:noFill/>
          <a:ln>
            <a:noFill/>
          </a:ln>
        </p:spPr>
      </p:pic>
      <p:sp>
        <p:nvSpPr>
          <p:cNvPr id="355" name="Google Shape;355;p24"/>
          <p:cNvSpPr txBox="1"/>
          <p:nvPr/>
        </p:nvSpPr>
        <p:spPr>
          <a:xfrm>
            <a:off x="4760500" y="390500"/>
            <a:ext cx="2369700" cy="4155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500">
                <a:latin typeface="Nunito"/>
                <a:ea typeface="Nunito"/>
                <a:cs typeface="Nunito"/>
                <a:sym typeface="Nunito"/>
              </a:rPr>
              <a:t>NETWORK DEVICES:</a:t>
            </a:r>
            <a:endParaRPr b="1" sz="1500">
              <a:latin typeface="Nunito"/>
              <a:ea typeface="Nunito"/>
              <a:cs typeface="Nunito"/>
              <a:sym typeface="Nunito"/>
            </a:endParaRPr>
          </a:p>
        </p:txBody>
      </p:sp>
      <p:cxnSp>
        <p:nvCxnSpPr>
          <p:cNvPr id="356" name="Google Shape;356;p24"/>
          <p:cNvCxnSpPr/>
          <p:nvPr/>
        </p:nvCxnSpPr>
        <p:spPr>
          <a:xfrm>
            <a:off x="4496600" y="549675"/>
            <a:ext cx="0" cy="432600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25"/>
          <p:cNvSpPr txBox="1"/>
          <p:nvPr>
            <p:ph type="title"/>
          </p:nvPr>
        </p:nvSpPr>
        <p:spPr>
          <a:xfrm>
            <a:off x="1199400" y="598575"/>
            <a:ext cx="79002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SCADA (Supervisory Control and Data Acquisition) </a:t>
            </a:r>
            <a:endParaRPr/>
          </a:p>
        </p:txBody>
      </p:sp>
      <p:sp>
        <p:nvSpPr>
          <p:cNvPr id="362" name="Google Shape;362;p25"/>
          <p:cNvSpPr txBox="1"/>
          <p:nvPr>
            <p:ph idx="1" type="body"/>
          </p:nvPr>
        </p:nvSpPr>
        <p:spPr>
          <a:xfrm>
            <a:off x="1199400" y="1152300"/>
            <a:ext cx="7030500" cy="1894200"/>
          </a:xfrm>
          <a:prstGeom prst="rect">
            <a:avLst/>
          </a:prstGeom>
        </p:spPr>
        <p:txBody>
          <a:bodyPr anchorCtr="0" anchor="t" bIns="91425" lIns="91425" spcFirstLastPara="1" rIns="91425" wrap="square" tIns="91425">
            <a:normAutofit/>
          </a:bodyPr>
          <a:lstStyle/>
          <a:p>
            <a:pPr indent="-311150" lvl="0" marL="318770" rtl="0" algn="just">
              <a:lnSpc>
                <a:spcPct val="100000"/>
              </a:lnSpc>
              <a:spcBef>
                <a:spcPts val="1200"/>
              </a:spcBef>
              <a:spcAft>
                <a:spcPts val="0"/>
              </a:spcAft>
              <a:buClr>
                <a:srgbClr val="000000"/>
              </a:buClr>
              <a:buSzPts val="1300"/>
              <a:buFont typeface="Nunito"/>
              <a:buChar char="●"/>
            </a:pPr>
            <a:r>
              <a:rPr lang="en">
                <a:solidFill>
                  <a:srgbClr val="000000"/>
                </a:solidFill>
              </a:rPr>
              <a:t>SCADA systems monitor real-time data, control processes, and store information for analysis. </a:t>
            </a:r>
            <a:endParaRPr>
              <a:solidFill>
                <a:srgbClr val="000000"/>
              </a:solidFill>
            </a:endParaRPr>
          </a:p>
          <a:p>
            <a:pPr indent="-311150" lvl="0" marL="318770" rtl="0" algn="just">
              <a:lnSpc>
                <a:spcPct val="100000"/>
              </a:lnSpc>
              <a:spcBef>
                <a:spcPts val="1200"/>
              </a:spcBef>
              <a:spcAft>
                <a:spcPts val="1200"/>
              </a:spcAft>
              <a:buClr>
                <a:srgbClr val="000000"/>
              </a:buClr>
              <a:buSzPts val="1300"/>
              <a:buFont typeface="Nunito"/>
              <a:buChar char="●"/>
            </a:pPr>
            <a:r>
              <a:rPr lang="en">
                <a:solidFill>
                  <a:srgbClr val="000000"/>
                </a:solidFill>
              </a:rPr>
              <a:t>They manage the flow of data, and in general, data is collected by sensors and passed to PLCs. SCADA can handle simple control commands, such as opening and closing valves, sounding alarms, and similar types of controls</a:t>
            </a:r>
            <a:endParaRPr>
              <a:solidFill>
                <a:srgbClr val="000000"/>
              </a:solidFill>
            </a:endParaRPr>
          </a:p>
        </p:txBody>
      </p:sp>
      <p:pic>
        <p:nvPicPr>
          <p:cNvPr descr="C:\Users\kavin\Downloads\Copy of SCADA PPT.pptx (2).png" id="363" name="Google Shape;363;p25"/>
          <p:cNvPicPr preferRelativeResize="0"/>
          <p:nvPr/>
        </p:nvPicPr>
        <p:blipFill rotWithShape="1">
          <a:blip r:embed="rId3">
            <a:alphaModFix/>
          </a:blip>
          <a:srcRect b="0" l="0" r="0" t="13360"/>
          <a:stretch/>
        </p:blipFill>
        <p:spPr>
          <a:xfrm>
            <a:off x="1199400" y="2482550"/>
            <a:ext cx="6231875" cy="25466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CONCLUSION</a:t>
            </a:r>
            <a:endParaRPr/>
          </a:p>
        </p:txBody>
      </p:sp>
      <p:sp>
        <p:nvSpPr>
          <p:cNvPr id="369" name="Google Shape;369;p26"/>
          <p:cNvSpPr txBox="1"/>
          <p:nvPr>
            <p:ph idx="1" type="body"/>
          </p:nvPr>
        </p:nvSpPr>
        <p:spPr>
          <a:xfrm>
            <a:off x="1363325" y="1597875"/>
            <a:ext cx="7030500" cy="25416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1200"/>
              </a:spcAft>
              <a:buNone/>
            </a:pPr>
            <a:r>
              <a:rPr lang="en"/>
              <a:t>My internship at ONGC, Cauvery Asset, provided valuable hands-on experience in communication technologies like VSAT, GSM, and SCADA systems. I gained practical insights into how these technologies support the oil and gas industry, bridging the gap between theory and real-world applications. This experience has enhanced my technical skills and prepared me for future career opportunities in the field of electronics and communication.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