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8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8016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4032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 /><Relationship Id="rId20" Type="http://schemas.openxmlformats.org/officeDocument/2006/relationships/tableStyles" Target="tableStyles.xml" /><Relationship Id="rId2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824485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9584905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2510012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789399157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7273559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3286892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24198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346633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0160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64073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69455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34811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D1B98E-ACA3-1874-2C20-1EC03626753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72372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66116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9107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ECA81B-6F0E-FEDD-2D78-932020B0E9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75609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94598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83640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22EBB8-32EF-9DD0-C495-64ACD39AFF6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35367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82846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4233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6462A0-B234-921A-1104-04AA21FE010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4EC64F-33E7-B9F6-5282-667B4A58052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4197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76754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45261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C35F83-A15C-9C8A-84F7-93C26080391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75852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54443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88187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410DE8-4C1A-FC5B-A281-5741810D4B9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140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53822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56738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8824A3-0F0D-132D-1739-7F4887ADF0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81931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89578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07869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3F0D05-979F-E2C4-66B3-7697FBAB9C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17861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08459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85591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28E187-5F10-4D75-CA29-A5516B2A72C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73018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95803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5007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0F56E3-F155-353B-C63F-78749AF2619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63165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637827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15278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A35A36-703E-8F3A-9616-8B5D6BEBA78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7520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760498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84573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C02611-4602-4B39-3B85-76E80B419F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6292694" name="Title 1"/>
          <p:cNvSpPr>
            <a:spLocks noGrp="1"/>
          </p:cNvSpPr>
          <p:nvPr>
            <p:ph type="ctrTitle"/>
          </p:nvPr>
        </p:nvSpPr>
        <p:spPr bwMode="auto">
          <a:xfrm>
            <a:off x="1600198" y="1122362"/>
            <a:ext cx="9601200" cy="2387599"/>
          </a:xfrm>
        </p:spPr>
        <p:txBody>
          <a:bodyPr anchor="b"/>
          <a:lstStyle>
            <a:lvl1pPr algn="ctr">
              <a:defRPr sz="45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737568590" name="Subtitle 2"/>
          <p:cNvSpPr>
            <a:spLocks noGrp="1"/>
          </p:cNvSpPr>
          <p:nvPr>
            <p:ph type="subTitle" idx="1"/>
          </p:nvPr>
        </p:nvSpPr>
        <p:spPr bwMode="auto">
          <a:xfrm>
            <a:off x="1600198" y="3602037"/>
            <a:ext cx="96012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58644151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24020414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098199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14468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54845683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98359433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26023008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491764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8237342" name="Title 1"/>
          <p:cNvSpPr>
            <a:spLocks noGrp="1"/>
          </p:cNvSpPr>
          <p:nvPr>
            <p:ph type="title"/>
          </p:nvPr>
        </p:nvSpPr>
        <p:spPr bwMode="auto">
          <a:xfrm>
            <a:off x="873442" y="1709738"/>
            <a:ext cx="11041380" cy="2852737"/>
          </a:xfrm>
        </p:spPr>
        <p:txBody>
          <a:bodyPr anchor="b"/>
          <a:lstStyle>
            <a:lvl1pPr>
              <a:defRPr sz="45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15015803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73442" y="4589463"/>
            <a:ext cx="11041380" cy="150018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55364800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81369332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424693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572059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9300747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80108" y="1825625"/>
            <a:ext cx="5440678" cy="4351338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05180769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480810" y="1825625"/>
            <a:ext cx="5440678" cy="4351338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289363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37700355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047767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3845748" name="Title 1"/>
          <p:cNvSpPr>
            <a:spLocks noGrp="1"/>
          </p:cNvSpPr>
          <p:nvPr>
            <p:ph type="title"/>
          </p:nvPr>
        </p:nvSpPr>
        <p:spPr bwMode="auto">
          <a:xfrm>
            <a:off x="881775" y="365125"/>
            <a:ext cx="11041380" cy="1325562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17472531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81778" y="1681162"/>
            <a:ext cx="5415675" cy="8239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37683736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81778" y="2505074"/>
            <a:ext cx="5415675" cy="3684587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81150168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480810" y="1681162"/>
            <a:ext cx="5442346" cy="8239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34761311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480810" y="2505074"/>
            <a:ext cx="5442346" cy="3684587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2805408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42320020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097105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928650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006451627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22079430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7732576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1464000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912935602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027348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967621" name="Title 1"/>
          <p:cNvSpPr>
            <a:spLocks noGrp="1"/>
          </p:cNvSpPr>
          <p:nvPr>
            <p:ph type="title"/>
          </p:nvPr>
        </p:nvSpPr>
        <p:spPr bwMode="auto">
          <a:xfrm>
            <a:off x="881775" y="457200"/>
            <a:ext cx="4128848" cy="1600200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056888856" name="Content Placeholder 2"/>
          <p:cNvSpPr>
            <a:spLocks noGrp="1"/>
          </p:cNvSpPr>
          <p:nvPr>
            <p:ph idx="1"/>
          </p:nvPr>
        </p:nvSpPr>
        <p:spPr bwMode="auto">
          <a:xfrm>
            <a:off x="5442346" y="987425"/>
            <a:ext cx="648081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6160629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81775" y="2057399"/>
            <a:ext cx="4128848" cy="3811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56731204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8008642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707478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1444597" name="Title 1"/>
          <p:cNvSpPr>
            <a:spLocks noGrp="1"/>
          </p:cNvSpPr>
          <p:nvPr>
            <p:ph type="title"/>
          </p:nvPr>
        </p:nvSpPr>
        <p:spPr bwMode="auto">
          <a:xfrm>
            <a:off x="881775" y="457200"/>
            <a:ext cx="4128848" cy="1600200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012645230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442346" y="987425"/>
            <a:ext cx="648081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>
              <a:defRPr/>
            </a:pPr>
            <a:r>
              <a:rPr/>
              <a:t>Click icon to add picture</a:t>
            </a:r>
            <a:endParaRPr/>
          </a:p>
        </p:txBody>
      </p:sp>
      <p:sp>
        <p:nvSpPr>
          <p:cNvPr id="196438147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81775" y="2057399"/>
            <a:ext cx="4128848" cy="3811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84873602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61048098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700745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649669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90410996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65583160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75572145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139826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79705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9161143" y="365125"/>
            <a:ext cx="2760345" cy="5811838"/>
          </a:xfrm>
        </p:spPr>
        <p:txBody>
          <a:bodyPr vert="eaVert"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74657736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80108" y="365125"/>
            <a:ext cx="8121013" cy="5811838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6060885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202669120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32865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0143028" name="Title Placeholder 1"/>
          <p:cNvSpPr>
            <a:spLocks noGrp="1"/>
          </p:cNvSpPr>
          <p:nvPr>
            <p:ph type="title"/>
          </p:nvPr>
        </p:nvSpPr>
        <p:spPr bwMode="auto">
          <a:xfrm>
            <a:off x="880108" y="365125"/>
            <a:ext cx="1104138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6694811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80108" y="1825625"/>
            <a:ext cx="1104138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26800294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80108" y="6356350"/>
            <a:ext cx="28803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46942855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240528" y="6356350"/>
            <a:ext cx="43205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6154775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9041128" y="6356350"/>
            <a:ext cx="28803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>
        <a:lnSpc>
          <a:spcPct val="90000"/>
        </a:lnSpc>
        <a:spcBef>
          <a:spcPts val="0"/>
        </a:spcBef>
        <a:buNone/>
        <a:defRPr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>
        <a:lnSpc>
          <a:spcPct val="90000"/>
        </a:lnSpc>
        <a:spcBef>
          <a:spcPts val="749"/>
        </a:spcBef>
        <a:buFont typeface="Arial"/>
        <a:buChar char="•"/>
        <a:defRPr sz="21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1372182" name=""/>
          <p:cNvSpPr/>
          <p:nvPr/>
        </p:nvSpPr>
        <p:spPr bwMode="auto">
          <a:xfrm rot="0" flipH="0" flipV="0">
            <a:off x="-1447" y="-15873"/>
            <a:ext cx="12804492" cy="35244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sz="3600" b="1"/>
          </a:p>
        </p:txBody>
      </p:sp>
      <p:sp>
        <p:nvSpPr>
          <p:cNvPr id="1107129420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946305" y="1085126"/>
            <a:ext cx="10908987" cy="2343873"/>
          </a:xfrm>
        </p:spPr>
        <p:txBody>
          <a:bodyPr/>
          <a:lstStyle/>
          <a:p>
            <a:pPr>
              <a:defRPr/>
            </a:pPr>
            <a:r>
              <a:rPr lang="en-US" sz="48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TCAD TCL Script Generator for Sentaurus Visual</a:t>
            </a:r>
            <a:endParaRPr sz="4800" b="1">
              <a:solidFill>
                <a:schemeClr val="bg1"/>
              </a:solidFill>
            </a:endParaRPr>
          </a:p>
        </p:txBody>
      </p:sp>
      <p:sp>
        <p:nvSpPr>
          <p:cNvPr id="1049198040" name="Subtitle 2"/>
          <p:cNvSpPr>
            <a:spLocks noGrp="1"/>
          </p:cNvSpPr>
          <p:nvPr>
            <p:ph type="subTitle" idx="1"/>
          </p:nvPr>
        </p:nvSpPr>
        <p:spPr bwMode="auto">
          <a:xfrm>
            <a:off x="1600197" y="3807005"/>
            <a:ext cx="9601200" cy="1655761"/>
          </a:xfrm>
        </p:spPr>
        <p:txBody>
          <a:bodyPr/>
          <a:lstStyle/>
          <a:p>
            <a:pPr>
              <a:defRPr/>
            </a:pPr>
            <a:r>
              <a:rPr sz="2000" b="1" i="0" u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MSDLab, DESE, IISc</a:t>
            </a:r>
            <a:endParaRPr sz="2000" b="1" i="0" u="none">
              <a:solidFill>
                <a:srgbClr val="595959"/>
              </a:solidFill>
              <a:latin typeface="Arial"/>
              <a:ea typeface="Arial"/>
              <a:cs typeface="Arial"/>
            </a:endParaRPr>
          </a:p>
          <a:p>
            <a:pPr marL="0" marR="0" indent="0" algn="ctr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Font typeface="Arial"/>
              <a:buNone/>
              <a:defRPr/>
            </a:pPr>
            <a:r>
              <a:rPr lang="en-IN" sz="2000" b="1" i="0" u="none" strike="noStrike" cap="none" spc="0">
                <a:solidFill>
                  <a:srgbClr val="595959"/>
                </a:solidFill>
                <a:latin typeface="Arial"/>
                <a:ea typeface="Arial"/>
                <a:cs typeface="Arial"/>
              </a:rPr>
              <a:t>A</a:t>
            </a:r>
            <a:r>
              <a:rPr lang="en-IN" sz="2000" b="1" i="0" u="none" strike="noStrike" cap="none" spc="0">
                <a:solidFill>
                  <a:srgbClr val="595959"/>
                </a:solidFill>
                <a:latin typeface="Arial"/>
                <a:ea typeface="Arial"/>
                <a:cs typeface="Arial"/>
              </a:rPr>
              <a:t>D</a:t>
            </a:r>
            <a:r>
              <a:rPr lang="en-IN" sz="2000" b="1" i="0" u="none" strike="noStrike" cap="none" spc="0">
                <a:solidFill>
                  <a:srgbClr val="595959"/>
                </a:solidFill>
                <a:latin typeface="Arial"/>
                <a:ea typeface="Arial"/>
                <a:cs typeface="Arial"/>
              </a:rPr>
              <a:t>HISH JS</a:t>
            </a:r>
            <a:endParaRPr lang="en-IN" sz="2000" b="1" i="0" u="none" strike="noStrike" cap="none" spc="0">
              <a:solidFill>
                <a:srgbClr val="595959"/>
              </a:solidFill>
              <a:latin typeface="Arial"/>
              <a:cs typeface="Arial"/>
            </a:endParaRPr>
          </a:p>
          <a:p>
            <a:pPr marL="0" marR="0" lvl="0" indent="0" algn="ctr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None/>
              <a:defRPr/>
            </a:pPr>
            <a:r>
              <a:rPr lang="en-IN" sz="2000" b="1" i="0" u="none" strike="noStrike" cap="none" spc="0">
                <a:solidFill>
                  <a:srgbClr val="595959"/>
                </a:solidFill>
                <a:latin typeface="Arial"/>
                <a:ea typeface="Arial"/>
                <a:cs typeface="Arial"/>
              </a:rPr>
              <a:t>Internship</a:t>
            </a:r>
            <a:endParaRPr sz="2000" b="1" i="0" u="none" strike="noStrike" cap="none" spc="0">
              <a:solidFill>
                <a:srgbClr val="595959"/>
              </a:solidFill>
              <a:latin typeface="Arial"/>
              <a:ea typeface="Arial"/>
              <a:cs typeface="Arial"/>
            </a:endParaRPr>
          </a:p>
          <a:p>
            <a:pPr marL="0" marR="0" lvl="0" indent="0" algn="ctr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None/>
              <a:defRPr/>
            </a:pPr>
            <a:r>
              <a:rPr lang="en-IN" sz="2000" b="1" i="0" u="none" strike="noStrike" cap="none" spc="0">
                <a:solidFill>
                  <a:srgbClr val="595959"/>
                </a:solidFill>
                <a:latin typeface="Arial"/>
                <a:ea typeface="Arial"/>
                <a:cs typeface="Arial"/>
              </a:rPr>
              <a:t>22/12/2025 - 26/01/2026</a:t>
            </a:r>
            <a:endParaRPr sz="26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4362823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IN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Problem Statement </a:t>
            </a:r>
            <a:endParaRPr lang="en-IN" sz="2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IN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solution</a:t>
            </a:r>
            <a:r>
              <a:rPr lang="en-IN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– Python TCL Generator</a:t>
            </a:r>
            <a:endParaRPr lang="en-IN" sz="2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IN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Implemened Modes</a:t>
            </a:r>
            <a:endParaRPr lang="en-US" sz="2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IN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Inputs of TCL Generator</a:t>
            </a:r>
            <a:endParaRPr lang="en-IN" sz="2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IN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3D and 2D </a:t>
            </a:r>
            <a:r>
              <a:rPr lang="en-IN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Command Generation Flow</a:t>
            </a:r>
            <a:endParaRPr lang="en-IN" sz="2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IN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GUI Version</a:t>
            </a:r>
            <a:endParaRPr lang="en-IN" sz="2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IN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Conclusion</a:t>
            </a:r>
            <a:endParaRPr lang="en-IN" sz="2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3685697" name=""/>
          <p:cNvSpPr/>
          <p:nvPr/>
        </p:nvSpPr>
        <p:spPr bwMode="auto">
          <a:xfrm rot="0" flipH="0" flipV="0">
            <a:off x="-1448" y="-15874"/>
            <a:ext cx="12804493" cy="8922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IN" sz="3600" b="1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OUTLINE</a:t>
            </a:r>
            <a:endParaRPr sz="36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8466198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Analyzing TCAD simulation results in Sentaurus Visual (SVisual) requires repetitive manual steps </a:t>
            </a:r>
            <a:endParaRPr lang="en-US" sz="2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en-US" sz="23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loading files</a:t>
            </a:r>
            <a:r>
              <a:rPr lang="en-IN" sz="23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.</a:t>
            </a:r>
            <a:endParaRPr lang="en-US" sz="2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en-US" sz="23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creating plots</a:t>
            </a:r>
            <a:r>
              <a:rPr lang="en-IN" sz="23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.</a:t>
            </a:r>
            <a:endParaRPr lang="en-US" sz="2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en-US" sz="23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linking axes</a:t>
            </a:r>
            <a:r>
              <a:rPr lang="en-IN" sz="23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.</a:t>
            </a:r>
            <a:endParaRPr lang="en-US" sz="2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en-US" sz="23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exporting data.</a:t>
            </a:r>
            <a:endParaRPr lang="en-US" sz="2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0">
              <a:defRPr/>
            </a:pPr>
            <a:r>
              <a:rPr lang="en-US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Difficult to manage for:</a:t>
            </a:r>
            <a:endParaRPr lang="en-US" sz="2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en-US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Multiple nodes</a:t>
            </a:r>
            <a:endParaRPr lang="en-US" sz="2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en-US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Multiple TDR/PLT files</a:t>
            </a:r>
            <a:endParaRPr lang="en-US" sz="2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en-US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Multiple cutlines and parameters</a:t>
            </a:r>
            <a:endParaRPr/>
          </a:p>
        </p:txBody>
      </p:sp>
      <p:sp>
        <p:nvSpPr>
          <p:cNvPr id="613237584" name=""/>
          <p:cNvSpPr/>
          <p:nvPr/>
        </p:nvSpPr>
        <p:spPr bwMode="auto">
          <a:xfrm rot="0" flipH="0" flipV="0">
            <a:off x="-1447" y="-15873"/>
            <a:ext cx="12804492" cy="8922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3600" b="1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Problem Statement</a:t>
            </a:r>
            <a:endParaRPr sz="36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9446644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 Python utility that accepts high-level user parameters (Node IDs, Cut locations, P</a:t>
            </a:r>
            <a:r>
              <a:rPr lang="en-IN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arameters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) and algorithmically generates a complete, error-free TCL script.</a:t>
            </a:r>
            <a:endParaRPr/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Supports: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3D analysis (cutplane → cutline)</a:t>
            </a:r>
            <a:r>
              <a:rPr lang="en-IN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.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2D analysis (direct cutline)</a:t>
            </a:r>
            <a:r>
              <a:rPr lang="en-IN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.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PLT-based transient plots</a:t>
            </a:r>
            <a:r>
              <a:rPr lang="en-IN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.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Two versions: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Terminal-based</a:t>
            </a:r>
            <a:r>
              <a:rPr lang="en-IN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.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GUI-based</a:t>
            </a:r>
            <a:r>
              <a:rPr lang="en-IN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.</a:t>
            </a:r>
            <a:endParaRPr/>
          </a:p>
        </p:txBody>
      </p:sp>
      <p:sp>
        <p:nvSpPr>
          <p:cNvPr id="1511243246" name=""/>
          <p:cNvSpPr/>
          <p:nvPr/>
        </p:nvSpPr>
        <p:spPr bwMode="auto">
          <a:xfrm rot="0" flipH="0" flipV="0">
            <a:off x="-1447" y="-15873"/>
            <a:ext cx="12804492" cy="8922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3600" b="1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The Solution – Python TCL Generator</a:t>
            </a:r>
            <a:endParaRPr sz="36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5871309" name="Flowchart: Alternate process 1817330045"/>
          <p:cNvSpPr/>
          <p:nvPr/>
        </p:nvSpPr>
        <p:spPr bwMode="auto">
          <a:xfrm rot="0" flipH="0" flipV="0">
            <a:off x="179156" y="1570259"/>
            <a:ext cx="4126412" cy="478231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261850" indent="-261850">
              <a:buFont typeface="Arial"/>
              <a:buChar char="•"/>
              <a:defRPr/>
            </a:pPr>
            <a:r>
              <a:rPr lang="en-US" sz="16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Automates the extraction of 1D data curves from complex 3D TCAD simulation files (.tdr).</a:t>
            </a:r>
            <a:endParaRPr sz="1600" b="0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261850" indent="-261850">
              <a:buFont typeface="Arial"/>
              <a:buChar char="•"/>
              <a:defRPr/>
            </a:pPr>
            <a:r>
              <a:rPr lang="en-US" sz="16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Workflow Logic:</a:t>
            </a:r>
            <a:endParaRPr sz="1600" b="1" i="0" u="none" strike="noStrike" cap="none" spc="0">
              <a:solidFill>
                <a:schemeClr val="bg1"/>
              </a:solidFill>
              <a:latin typeface="Arial"/>
              <a:cs typeface="Arial"/>
            </a:endParaRPr>
          </a:p>
          <a:p>
            <a:pPr marL="661900" lvl="1" indent="-261850">
              <a:buFont typeface="Arial"/>
              <a:buChar char="•"/>
              <a:defRPr/>
            </a:pPr>
            <a:r>
              <a:rPr lang="en-US" sz="16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Load:</a:t>
            </a:r>
            <a:r>
              <a:rPr lang="en-US" sz="16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 Imports 3D structure</a:t>
            </a:r>
            <a:r>
              <a:rPr lang="en-IN" sz="16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6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(.tdr).</a:t>
            </a:r>
            <a:endParaRPr sz="1600" b="0" i="0" u="none" strike="noStrike" cap="none" spc="0">
              <a:solidFill>
                <a:schemeClr val="bg1"/>
              </a:solidFill>
              <a:latin typeface="Arial"/>
              <a:cs typeface="Arial"/>
            </a:endParaRPr>
          </a:p>
          <a:p>
            <a:pPr marL="661900" lvl="1" indent="-261850">
              <a:buFont typeface="Arial"/>
              <a:buChar char="•"/>
              <a:defRPr/>
            </a:pPr>
            <a:r>
              <a:rPr lang="en-US" sz="16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Cutplane:</a:t>
            </a:r>
            <a:r>
              <a:rPr lang="en-US" sz="16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 Creates a 2D slice from the 3D body (Axis: X/Y/Z).</a:t>
            </a:r>
            <a:endParaRPr sz="1600" b="0" i="0" u="none" strike="noStrike" cap="none" spc="0">
              <a:solidFill>
                <a:schemeClr val="bg1"/>
              </a:solidFill>
              <a:latin typeface="Arial"/>
              <a:cs typeface="Arial"/>
            </a:endParaRPr>
          </a:p>
          <a:p>
            <a:pPr marL="661900" lvl="1" indent="-261850">
              <a:buFont typeface="Arial"/>
              <a:buChar char="•"/>
              <a:defRPr/>
            </a:pPr>
            <a:r>
              <a:rPr lang="en-US" sz="16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Cutline</a:t>
            </a:r>
            <a:r>
              <a:rPr lang="en-US" sz="16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: Creates a 1D line on that 2D plane (Straight or L-shaped).</a:t>
            </a:r>
            <a:endParaRPr sz="1600">
              <a:solidFill>
                <a:schemeClr val="bg1"/>
              </a:solidFill>
            </a:endParaRPr>
          </a:p>
          <a:p>
            <a:pPr marL="261850" indent="-261850">
              <a:buFont typeface="Arial"/>
              <a:buChar char="•"/>
              <a:defRPr/>
            </a:pPr>
            <a:r>
              <a:rPr lang="en-US" sz="16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3D Structure </a:t>
            </a:r>
            <a:r>
              <a:rPr lang="en-US" sz="16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→</a:t>
            </a:r>
            <a:r>
              <a:rPr lang="en-US" sz="16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 Cutplane </a:t>
            </a:r>
            <a:r>
              <a:rPr lang="en-US" sz="16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→</a:t>
            </a:r>
            <a:r>
              <a:rPr lang="en-US" sz="16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 Cutline </a:t>
            </a:r>
            <a:r>
              <a:rPr lang="en-US" sz="16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→</a:t>
            </a:r>
            <a:r>
              <a:rPr lang="en-US" sz="16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 1D Plot.</a:t>
            </a:r>
            <a:endParaRPr sz="1600">
              <a:solidFill>
                <a:schemeClr val="bg1"/>
              </a:solidFill>
            </a:endParaRPr>
          </a:p>
          <a:p>
            <a:pPr marL="283879" indent="-283879" algn="ctr">
              <a:buFont typeface="Arial"/>
              <a:buChar char="•"/>
              <a:defRPr/>
            </a:pPr>
            <a:endParaRPr sz="1600">
              <a:solidFill>
                <a:schemeClr val="bg1"/>
              </a:solidFill>
            </a:endParaRPr>
          </a:p>
        </p:txBody>
      </p:sp>
      <p:sp>
        <p:nvSpPr>
          <p:cNvPr id="41049110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-465474" y="746349"/>
            <a:ext cx="5415675" cy="823910"/>
          </a:xfrm>
        </p:spPr>
        <p:txBody>
          <a:bodyPr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algn="ctr">
              <a:defRPr/>
            </a:pPr>
            <a:r>
              <a:rPr lang="en-IN" sz="2600"/>
              <a:t>MODE 1 </a:t>
            </a:r>
            <a:endParaRPr sz="2600"/>
          </a:p>
        </p:txBody>
      </p:sp>
      <p:sp>
        <p:nvSpPr>
          <p:cNvPr id="1876433730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3759636" y="794577"/>
            <a:ext cx="5442346" cy="823910"/>
          </a:xfrm>
        </p:spPr>
        <p:txBody>
          <a:bodyPr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algn="ctr">
              <a:defRPr/>
            </a:pPr>
            <a:r>
              <a:rPr lang="en-IN" sz="2600"/>
              <a:t>MODE 2</a:t>
            </a:r>
            <a:endParaRPr sz="2600"/>
          </a:p>
        </p:txBody>
      </p:sp>
      <p:sp>
        <p:nvSpPr>
          <p:cNvPr id="1659664374" name=""/>
          <p:cNvSpPr/>
          <p:nvPr/>
        </p:nvSpPr>
        <p:spPr bwMode="auto">
          <a:xfrm rot="0" flipH="0" flipV="0">
            <a:off x="4532144" y="1618487"/>
            <a:ext cx="3897330" cy="478231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283879" indent="-283879">
              <a:buFont typeface="Arial"/>
              <a:buChar char="•"/>
              <a:defRPr/>
            </a:pPr>
            <a:r>
              <a:rPr lang="en-US" sz="16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Automates the extraction of 1D data curves from complex </a:t>
            </a:r>
            <a:r>
              <a:rPr lang="en-IN" sz="16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2</a:t>
            </a:r>
            <a:r>
              <a:rPr lang="en-US" sz="16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D TCAD simulation files (.tdr).</a:t>
            </a:r>
            <a:endParaRPr sz="1600" b="0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n-US" sz="16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Workflow Logic:</a:t>
            </a:r>
            <a:endParaRPr sz="1600" b="1" i="0" u="none" strike="noStrike" cap="none" spc="0">
              <a:solidFill>
                <a:schemeClr val="bg1"/>
              </a:solidFill>
              <a:latin typeface="Arial"/>
              <a:cs typeface="Arial"/>
            </a:endParaRPr>
          </a:p>
          <a:p>
            <a:pPr marL="683929" lvl="1" indent="-283879">
              <a:buFont typeface="Arial"/>
              <a:buChar char="•"/>
              <a:defRPr/>
            </a:pPr>
            <a:r>
              <a:rPr lang="en-US" sz="16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Load:</a:t>
            </a:r>
            <a:r>
              <a:rPr lang="en-US" sz="16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 Imports </a:t>
            </a:r>
            <a:r>
              <a:rPr lang="en-IN" sz="16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2</a:t>
            </a:r>
            <a:r>
              <a:rPr lang="en-US" sz="16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D structure (.tdr).</a:t>
            </a:r>
            <a:endParaRPr sz="1600" b="0" i="0" u="none" strike="noStrike" cap="none" spc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683929" lvl="1" indent="-283879">
              <a:buFont typeface="Arial"/>
              <a:buChar char="•"/>
              <a:defRPr/>
            </a:pPr>
            <a:r>
              <a:rPr lang="en-US" sz="16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Cutline: </a:t>
            </a:r>
            <a:r>
              <a:rPr lang="en-US" sz="16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Creates a 1D line on that 2D plane (Straight or L-shaped).</a:t>
            </a:r>
            <a:endParaRPr sz="1600" b="0" i="0" u="none" strike="noStrike" cap="none" spc="0">
              <a:solidFill>
                <a:schemeClr val="bg1"/>
              </a:solidFill>
              <a:latin typeface="Arial"/>
              <a:cs typeface="Arial"/>
            </a:endParaRPr>
          </a:p>
          <a:p>
            <a:pPr marL="283879" lvl="0" indent="-283879">
              <a:buFont typeface="Arial"/>
              <a:buChar char="•"/>
              <a:defRPr/>
            </a:pPr>
            <a:r>
              <a:rPr lang="en-US" sz="16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2D Structure </a:t>
            </a:r>
            <a:r>
              <a:rPr lang="en-US" sz="16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→</a:t>
            </a:r>
            <a:r>
              <a:rPr lang="en-US" sz="16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 Cutline </a:t>
            </a:r>
            <a:r>
              <a:rPr lang="en-US" sz="16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→</a:t>
            </a:r>
            <a:r>
              <a:rPr lang="en-US" sz="16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 1D Plot.</a:t>
            </a:r>
            <a:endParaRPr sz="1600" b="0" i="0" u="none" strike="noStrike" cap="none" spc="0"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endParaRPr sz="1600">
              <a:solidFill>
                <a:schemeClr val="bg1"/>
              </a:solidFill>
            </a:endParaRPr>
          </a:p>
        </p:txBody>
      </p:sp>
      <p:sp>
        <p:nvSpPr>
          <p:cNvPr id="374955353" name=""/>
          <p:cNvSpPr/>
          <p:nvPr/>
        </p:nvSpPr>
        <p:spPr bwMode="auto">
          <a:xfrm rot="0" flipH="0" flipV="0">
            <a:off x="-1447" y="-15873"/>
            <a:ext cx="12804492" cy="8922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IN" sz="3600" b="1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IMPLEMENTED MODES</a:t>
            </a:r>
            <a:endParaRPr sz="3600" b="1"/>
          </a:p>
        </p:txBody>
      </p:sp>
      <p:sp>
        <p:nvSpPr>
          <p:cNvPr id="1759876200" name=""/>
          <p:cNvSpPr/>
          <p:nvPr/>
        </p:nvSpPr>
        <p:spPr bwMode="auto">
          <a:xfrm rot="0" flipH="0" flipV="0">
            <a:off x="8667257" y="1618487"/>
            <a:ext cx="3897330" cy="478231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283879" indent="-283879">
              <a:buFont typeface="Arial"/>
              <a:buChar char="•"/>
              <a:defRPr/>
            </a:pPr>
            <a:r>
              <a:rPr lang="en-US" sz="16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Automates transient analysis from PLT files (.plt).</a:t>
            </a:r>
            <a:endParaRPr sz="1600" b="0" i="0" u="none" strike="noStrike" cap="none" spc="0">
              <a:solidFill>
                <a:schemeClr val="bg1"/>
              </a:solidFill>
              <a:latin typeface="Arial"/>
              <a:cs typeface="Arial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n-US" sz="16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Workflow Logic:</a:t>
            </a:r>
            <a:endParaRPr sz="1600" b="1" i="0" u="none" strike="noStrike" cap="none" spc="0">
              <a:solidFill>
                <a:schemeClr val="bg1"/>
              </a:solidFill>
              <a:latin typeface="Arial"/>
              <a:cs typeface="Arial"/>
            </a:endParaRPr>
          </a:p>
          <a:p>
            <a:pPr marL="683929" lvl="1" indent="-283879">
              <a:buFont typeface="Arial"/>
              <a:buChar char="•"/>
              <a:defRPr/>
            </a:pPr>
            <a:r>
              <a:rPr lang="en-US" sz="16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Load:</a:t>
            </a:r>
            <a:r>
              <a:rPr lang="en-US" sz="16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 Imports PLT file.</a:t>
            </a:r>
            <a:endParaRPr sz="1600" b="0" i="0" u="none" strike="noStrike" cap="none" spc="0">
              <a:solidFill>
                <a:schemeClr val="bg1"/>
              </a:solidFill>
              <a:latin typeface="Arial"/>
              <a:cs typeface="Arial"/>
            </a:endParaRPr>
          </a:p>
          <a:p>
            <a:pPr marL="683929" lvl="1" indent="-283879">
              <a:buFont typeface="Arial"/>
              <a:buChar char="•"/>
              <a:defRPr/>
            </a:pPr>
            <a:r>
              <a:rPr lang="en-US" sz="16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Create 1D Plot.</a:t>
            </a:r>
            <a:endParaRPr sz="1600" b="0" i="0" u="none" strike="noStrike" cap="none" spc="0">
              <a:solidFill>
                <a:schemeClr val="bg1"/>
              </a:solidFill>
              <a:latin typeface="Arial"/>
              <a:cs typeface="Arial"/>
            </a:endParaRPr>
          </a:p>
          <a:p>
            <a:pPr marL="683929" lvl="1" indent="-283879">
              <a:buFont typeface="Arial"/>
              <a:buChar char="•"/>
              <a:defRPr/>
            </a:pPr>
            <a:r>
              <a:rPr lang="en-US" sz="16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Create Curves OuterVoltage, Tmax).</a:t>
            </a:r>
            <a:endParaRPr sz="1600" b="0" i="0" u="none" strike="noStrike" cap="none" spc="0">
              <a:solidFill>
                <a:schemeClr val="bg1"/>
              </a:solidFill>
              <a:latin typeface="Arial"/>
              <a:cs typeface="Arial"/>
            </a:endParaRPr>
          </a:p>
          <a:p>
            <a:pPr marL="683929" lvl="1" indent="-283879">
              <a:buFont typeface="Arial"/>
              <a:buChar char="•"/>
              <a:defRPr/>
            </a:pPr>
            <a:r>
              <a:rPr lang="en-US" sz="16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Export PNG and CSV.</a:t>
            </a:r>
            <a:endParaRPr sz="1600" b="0" i="0" u="none" strike="noStrike" cap="none" spc="0">
              <a:solidFill>
                <a:schemeClr val="bg1"/>
              </a:solidFill>
              <a:latin typeface="Arial"/>
              <a:cs typeface="Arial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n-US" sz="16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PLT File → 1D Plot → Curves → Outputs.</a:t>
            </a:r>
            <a:endParaRPr sz="1600">
              <a:solidFill>
                <a:schemeClr val="bg1"/>
              </a:solidFill>
            </a:endParaRPr>
          </a:p>
        </p:txBody>
      </p:sp>
      <p:sp>
        <p:nvSpPr>
          <p:cNvPr id="51893285" name="Text Placeholder 2"/>
          <p:cNvSpPr>
            <a:spLocks noGrp="1"/>
          </p:cNvSpPr>
          <p:nvPr/>
        </p:nvSpPr>
        <p:spPr bwMode="auto">
          <a:xfrm>
            <a:off x="7908085" y="794577"/>
            <a:ext cx="5415674" cy="823909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>
            <a:lvl1pPr marL="0" indent="0" algn="l" defTabSz="685800" rtl="0">
              <a:lnSpc>
                <a:spcPct val="90000"/>
              </a:lnSpc>
              <a:spcBef>
                <a:spcPts val="748"/>
              </a:spcBef>
              <a:buFont typeface="Arial"/>
              <a:buNone/>
              <a:defRPr sz="1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>
              <a:lnSpc>
                <a:spcPct val="90000"/>
              </a:lnSpc>
              <a:spcBef>
                <a:spcPts val="373"/>
              </a:spcBef>
              <a:buFont typeface="Arial"/>
              <a:buNone/>
              <a:defRPr sz="15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>
              <a:lnSpc>
                <a:spcPct val="90000"/>
              </a:lnSpc>
              <a:spcBef>
                <a:spcPts val="373"/>
              </a:spcBef>
              <a:buFont typeface="Arial"/>
              <a:buNone/>
              <a:defRPr sz="135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>
              <a:lnSpc>
                <a:spcPct val="90000"/>
              </a:lnSpc>
              <a:spcBef>
                <a:spcPts val="373"/>
              </a:spcBef>
              <a:buFont typeface="Arial"/>
              <a:buNone/>
              <a:defRPr sz="1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>
              <a:lnSpc>
                <a:spcPct val="90000"/>
              </a:lnSpc>
              <a:spcBef>
                <a:spcPts val="373"/>
              </a:spcBef>
              <a:buFont typeface="Arial"/>
              <a:buNone/>
              <a:defRPr sz="1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>
              <a:lnSpc>
                <a:spcPct val="90000"/>
              </a:lnSpc>
              <a:spcBef>
                <a:spcPts val="373"/>
              </a:spcBef>
              <a:buFont typeface="Arial"/>
              <a:buNone/>
              <a:defRPr sz="1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>
              <a:lnSpc>
                <a:spcPct val="90000"/>
              </a:lnSpc>
              <a:spcBef>
                <a:spcPts val="373"/>
              </a:spcBef>
              <a:buFont typeface="Arial"/>
              <a:buNone/>
              <a:defRPr sz="1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>
              <a:lnSpc>
                <a:spcPct val="90000"/>
              </a:lnSpc>
              <a:spcBef>
                <a:spcPts val="373"/>
              </a:spcBef>
              <a:buFont typeface="Arial"/>
              <a:buNone/>
              <a:defRPr sz="1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>
              <a:lnSpc>
                <a:spcPct val="90000"/>
              </a:lnSpc>
              <a:spcBef>
                <a:spcPts val="373"/>
              </a:spcBef>
              <a:buFont typeface="Arial"/>
              <a:buNone/>
              <a:defRPr sz="1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IN" sz="2600"/>
              <a:t>MODE 3</a:t>
            </a:r>
            <a:r>
              <a:rPr lang="en-IN" sz="2600"/>
              <a:t> </a:t>
            </a:r>
            <a:endParaRPr lang="en-IN" sz="2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8669016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51450" y="885030"/>
            <a:ext cx="12098700" cy="5713278"/>
          </a:xfrm>
          <a:prstGeom prst="rect">
            <a:avLst/>
          </a:prstGeom>
        </p:spPr>
      </p:pic>
      <p:sp>
        <p:nvSpPr>
          <p:cNvPr id="1432631996" name=""/>
          <p:cNvSpPr/>
          <p:nvPr/>
        </p:nvSpPr>
        <p:spPr bwMode="auto">
          <a:xfrm rot="0" flipH="0" flipV="0">
            <a:off x="-1446" y="-15872"/>
            <a:ext cx="12804491" cy="8922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3600" b="1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INPUTS</a:t>
            </a:r>
            <a:r>
              <a:rPr lang="en-IN" sz="3600" b="1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 </a:t>
            </a:r>
            <a:r>
              <a:rPr lang="en-IN" sz="3600" b="1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OF TCL GENERATOR </a:t>
            </a:r>
            <a:endParaRPr sz="36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9650766" name=""/>
          <p:cNvSpPr/>
          <p:nvPr/>
        </p:nvSpPr>
        <p:spPr bwMode="auto">
          <a:xfrm rot="0" flipH="0" flipV="0">
            <a:off x="-1447" y="-15873"/>
            <a:ext cx="12804492" cy="8922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IN" sz="3600" b="1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3D COMMAND GENERATION FLOW</a:t>
            </a:r>
            <a:endParaRPr sz="3600" b="1"/>
          </a:p>
        </p:txBody>
      </p:sp>
      <p:pic>
        <p:nvPicPr>
          <p:cNvPr id="2081487954" name=""/>
          <p:cNvPicPr>
            <a:picLocks noChangeAspect="1"/>
          </p:cNvPicPr>
          <p:nvPr/>
        </p:nvPicPr>
        <p:blipFill rotWithShape="1">
          <a:blip r:embed="rId3"/>
          <a:srcRect l="-734" t="0" r="2138" b="0"/>
          <a:stretch/>
        </p:blipFill>
        <p:spPr bwMode="auto">
          <a:xfrm flipH="0" flipV="0">
            <a:off x="84562" y="1559718"/>
            <a:ext cx="12619580" cy="47815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6150777" name=""/>
          <p:cNvSpPr/>
          <p:nvPr/>
        </p:nvSpPr>
        <p:spPr bwMode="auto">
          <a:xfrm rot="0" flipH="0" flipV="0">
            <a:off x="-1447" y="-15873"/>
            <a:ext cx="12804492" cy="8922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IN" sz="3600" b="1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2D COMMAND GENERATION FLOW</a:t>
            </a:r>
            <a:endParaRPr sz="3600" b="1"/>
          </a:p>
        </p:txBody>
      </p:sp>
      <p:pic>
        <p:nvPicPr>
          <p:cNvPr id="176627175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678906" y="993796"/>
            <a:ext cx="7002092" cy="57976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6356532" name=""/>
          <p:cNvSpPr/>
          <p:nvPr/>
        </p:nvSpPr>
        <p:spPr bwMode="auto">
          <a:xfrm rot="0" flipH="0" flipV="0">
            <a:off x="-1447" y="-15873"/>
            <a:ext cx="12804492" cy="8922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IN" sz="3600" b="1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LOOP STRUCTURE AND OUTPUT</a:t>
            </a:r>
            <a:endParaRPr sz="3600" b="1"/>
          </a:p>
        </p:txBody>
      </p:sp>
      <p:sp>
        <p:nvSpPr>
          <p:cNvPr id="1662699619" name=""/>
          <p:cNvSpPr txBox="1"/>
          <p:nvPr/>
        </p:nvSpPr>
        <p:spPr bwMode="auto">
          <a:xfrm rot="0" flipH="0" flipV="0">
            <a:off x="1751437" y="1440655"/>
            <a:ext cx="2016835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pic>
        <p:nvPicPr>
          <p:cNvPr id="32659791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38198" y="1623714"/>
            <a:ext cx="4477048" cy="3981449"/>
          </a:xfrm>
          <a:prstGeom prst="rect">
            <a:avLst/>
          </a:prstGeom>
        </p:spPr>
      </p:pic>
      <p:pic>
        <p:nvPicPr>
          <p:cNvPr id="81296776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7143750" y="1695449"/>
            <a:ext cx="4408854" cy="4095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4157885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41982" y="1480343"/>
            <a:ext cx="11041380" cy="119856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Graphical User Interface (GUI) version of the TCL Generator.</a:t>
            </a:r>
            <a:endParaRPr lang="en-US" sz="21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Provides structured input fields, dropdowns, and validation</a:t>
            </a:r>
            <a:r>
              <a:rPr lang="en-IN" sz="2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for </a:t>
            </a:r>
            <a:r>
              <a:rPr lang="en-IN" sz="2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TCAD TCL script generator</a:t>
            </a:r>
            <a:endParaRPr lang="en-US" sz="21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22253321" name=""/>
          <p:cNvSpPr/>
          <p:nvPr/>
        </p:nvSpPr>
        <p:spPr bwMode="auto">
          <a:xfrm rot="0" flipH="0" flipV="0">
            <a:off x="-1447" y="-15873"/>
            <a:ext cx="12804492" cy="8922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IN" sz="3600" b="1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GUI VERSION</a:t>
            </a:r>
            <a:endParaRPr sz="3600" b="1"/>
          </a:p>
        </p:txBody>
      </p:sp>
      <p:pic>
        <p:nvPicPr>
          <p:cNvPr id="192183983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81777" y="2492374"/>
            <a:ext cx="11993162" cy="27463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6931142" name=""/>
          <p:cNvPicPr>
            <a:picLocks noChangeAspect="1"/>
          </p:cNvPicPr>
          <p:nvPr>
            <p:ph type="pic" idx="1"/>
          </p:nvPr>
        </p:nvPicPr>
        <p:blipFill rotWithShape="1">
          <a:blip r:embed="rId3"/>
          <a:stretch/>
        </p:blipFill>
        <p:spPr bwMode="auto">
          <a:xfrm rot="0" flipH="0" flipV="0">
            <a:off x="692435" y="876340"/>
            <a:ext cx="11416725" cy="5983315"/>
          </a:xfrm>
          <a:prstGeom prst="rect">
            <a:avLst/>
          </a:prstGeom>
        </p:spPr>
      </p:pic>
      <p:sp>
        <p:nvSpPr>
          <p:cNvPr id="419674520" name=""/>
          <p:cNvSpPr txBox="1"/>
          <p:nvPr/>
        </p:nvSpPr>
        <p:spPr bwMode="auto">
          <a:xfrm rot="0" flipH="0" flipV="0">
            <a:off x="4644529" y="183651"/>
            <a:ext cx="4086665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GUI Workflow </a:t>
            </a:r>
            <a:r>
              <a:rPr lang="en-IN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: MODE 1</a:t>
            </a:r>
            <a:endParaRPr sz="2400"/>
          </a:p>
        </p:txBody>
      </p:sp>
      <p:sp>
        <p:nvSpPr>
          <p:cNvPr id="1856840728" name=""/>
          <p:cNvSpPr/>
          <p:nvPr/>
        </p:nvSpPr>
        <p:spPr bwMode="auto">
          <a:xfrm rot="0" flipH="0" flipV="0">
            <a:off x="-1447" y="-15873"/>
            <a:ext cx="12804492" cy="8922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IN" sz="3600" b="1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GUI VERSION: MODE 1</a:t>
            </a:r>
            <a:endParaRPr sz="36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9491785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18263" y="843233"/>
            <a:ext cx="11365069" cy="5943328"/>
          </a:xfrm>
          <a:prstGeom prst="rect">
            <a:avLst/>
          </a:prstGeom>
        </p:spPr>
      </p:pic>
      <p:sp>
        <p:nvSpPr>
          <p:cNvPr id="993713159" name=""/>
          <p:cNvSpPr/>
          <p:nvPr/>
        </p:nvSpPr>
        <p:spPr bwMode="auto">
          <a:xfrm rot="0" flipH="0" flipV="0">
            <a:off x="-1447" y="-15873"/>
            <a:ext cx="12804492" cy="8922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IN" sz="3600" b="1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GUI VERSION: MODE 2</a:t>
            </a:r>
            <a:endParaRPr sz="36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0710925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36707" y="903516"/>
            <a:ext cx="11246464" cy="5817069"/>
          </a:xfrm>
          <a:prstGeom prst="rect">
            <a:avLst/>
          </a:prstGeom>
        </p:spPr>
      </p:pic>
      <p:sp>
        <p:nvSpPr>
          <p:cNvPr id="10515138" name=""/>
          <p:cNvSpPr/>
          <p:nvPr/>
        </p:nvSpPr>
        <p:spPr bwMode="auto">
          <a:xfrm rot="0" flipH="0" flipV="0">
            <a:off x="-1447" y="-15873"/>
            <a:ext cx="12804492" cy="8922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IN" sz="3600" b="1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GUI VERSION: MODE 3</a:t>
            </a:r>
            <a:endParaRPr sz="36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631544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Developed a Python-based TCL script generator</a:t>
            </a:r>
            <a:r>
              <a:rPr lang="en-US" sz="2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for Sentaurus Visual.</a:t>
            </a:r>
            <a:endParaRPr lang="en-US" sz="21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US" sz="2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• Implement</a:t>
            </a:r>
            <a:r>
              <a:rPr lang="en-IN" sz="2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ed</a:t>
            </a:r>
            <a:r>
              <a:rPr lang="en-US" sz="2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:</a:t>
            </a:r>
            <a:endParaRPr lang="en-US" sz="21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US" sz="2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– Multi-node a</a:t>
            </a:r>
            <a:r>
              <a:rPr lang="en-IN" sz="2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nd </a:t>
            </a:r>
            <a:r>
              <a:rPr lang="en-US" sz="2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Multi-TDR support</a:t>
            </a:r>
            <a:endParaRPr lang="en-US" sz="21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US" sz="2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– Multi-cutline (set) handling</a:t>
            </a:r>
            <a:endParaRPr lang="en-US" sz="21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US" sz="2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– Parameter short-code mapping</a:t>
            </a:r>
            <a:endParaRPr lang="en-US" sz="21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US" sz="2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• Provides two user interfaces:</a:t>
            </a:r>
            <a:endParaRPr lang="en-US" sz="21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US" sz="2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– Terminal-based version </a:t>
            </a:r>
            <a:endParaRPr lang="en-US" sz="21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US" sz="2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– GUI-based</a:t>
            </a:r>
            <a:endParaRPr/>
          </a:p>
        </p:txBody>
      </p:sp>
      <p:sp>
        <p:nvSpPr>
          <p:cNvPr id="223584764" name=""/>
          <p:cNvSpPr/>
          <p:nvPr/>
        </p:nvSpPr>
        <p:spPr bwMode="auto">
          <a:xfrm rot="0" flipH="0" flipV="0">
            <a:off x="-1447" y="-15873"/>
            <a:ext cx="12804492" cy="8922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IN" sz="3600" b="1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CONCLUSION</a:t>
            </a:r>
            <a:endParaRPr sz="36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Blank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ONLYOFFICE/9.2.0.100</Application>
  <PresentationFormat>On-screen Show (4:3)</PresentationFormat>
  <Paragraphs>0</Paragraphs>
  <Slides>14</Slides>
  <Notes>14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</cp:revision>
  <dcterms:modified xsi:type="dcterms:W3CDTF">2026-01-22T03:54:20Z</dcterms:modified>
</cp:coreProperties>
</file>